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2" r:id="rId3"/>
    <p:sldId id="270" r:id="rId4"/>
    <p:sldId id="258" r:id="rId5"/>
    <p:sldId id="273" r:id="rId6"/>
    <p:sldId id="274" r:id="rId7"/>
    <p:sldId id="261" r:id="rId8"/>
    <p:sldId id="275" r:id="rId9"/>
    <p:sldId id="262" r:id="rId10"/>
    <p:sldId id="263" r:id="rId11"/>
    <p:sldId id="264" r:id="rId12"/>
    <p:sldId id="266" r:id="rId13"/>
    <p:sldId id="281" r:id="rId14"/>
    <p:sldId id="268" r:id="rId15"/>
    <p:sldId id="27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72F0"/>
    <a:srgbClr val="B4C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03"/>
    <p:restoredTop sz="92000" autoAdjust="0"/>
  </p:normalViewPr>
  <p:slideViewPr>
    <p:cSldViewPr snapToGrid="0" snapToObjects="1">
      <p:cViewPr varScale="1">
        <p:scale>
          <a:sx n="102" d="100"/>
          <a:sy n="102" d="100"/>
        </p:scale>
        <p:origin x="43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305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38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97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2004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83726" y="1673497"/>
            <a:ext cx="5029926" cy="2167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/>
              <a:t>Análisis de Segmentación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/>
              <a:t>y Clustering de Clientes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83726" y="3443515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</a:rPr>
              <a:t>Identificación de grupos de clientes para estrategia comercial y operativa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38369" y="3992154"/>
            <a:ext cx="5360488" cy="45719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pic>
        <p:nvPicPr>
          <p:cNvPr id="8" name="Picture 2" descr="Inicio - Transporte de Carga Pesada y Logística en Ecuador">
            <a:extLst>
              <a:ext uri="{FF2B5EF4-FFF2-40B4-BE49-F238E27FC236}">
                <a16:creationId xmlns:a16="http://schemas.microsoft.com/office/drawing/2014/main" id="{5DFFE027-D7BA-339C-97EC-4FCE8ABFE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98" y="0"/>
            <a:ext cx="2608688" cy="1581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2320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850"/>
                </a:solidFill>
              </a:defRPr>
            </a:pPr>
            <a:r>
              <a:rPr dirty="0"/>
              <a:t>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queríamos</a:t>
            </a:r>
            <a:r>
              <a:rPr dirty="0"/>
              <a:t> resolver </a:t>
            </a:r>
            <a:r>
              <a:rPr dirty="0" err="1"/>
              <a:t>realmente</a:t>
            </a:r>
            <a:r>
              <a:rPr dirty="0"/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5A5A"/>
                </a:solidFill>
              </a:defRPr>
            </a:pPr>
            <a:r>
              <a:t>Más allá de los movimientos logísticos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99" y="2143928"/>
            <a:ext cx="734377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dirty="0" err="1"/>
              <a:t>Transestiba</a:t>
            </a:r>
            <a:r>
              <a:rPr dirty="0"/>
              <a:t> </a:t>
            </a:r>
            <a:r>
              <a:rPr dirty="0" err="1"/>
              <a:t>sí</a:t>
            </a:r>
            <a:r>
              <a:rPr dirty="0"/>
              <a:t> </a:t>
            </a:r>
            <a:r>
              <a:rPr dirty="0" err="1"/>
              <a:t>tenía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… </a:t>
            </a:r>
            <a:r>
              <a:rPr dirty="0" err="1"/>
              <a:t>pero</a:t>
            </a:r>
            <a:r>
              <a:rPr dirty="0"/>
              <a:t> no </a:t>
            </a:r>
            <a:r>
              <a:rPr dirty="0" err="1"/>
              <a:t>inteligencia</a:t>
            </a:r>
            <a:r>
              <a:rPr dirty="0"/>
              <a:t> </a:t>
            </a:r>
            <a:r>
              <a:rPr dirty="0" err="1"/>
              <a:t>estructurada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clientes</a:t>
            </a:r>
            <a:r>
              <a:rPr dirty="0"/>
              <a:t>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Cada fila </a:t>
            </a:r>
            <a:r>
              <a:rPr dirty="0" err="1"/>
              <a:t>representaba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operación</a:t>
            </a:r>
            <a:r>
              <a:rPr dirty="0"/>
              <a:t>, no un </a:t>
            </a:r>
            <a:r>
              <a:rPr dirty="0" err="1"/>
              <a:t>comportamiento</a:t>
            </a:r>
            <a:r>
              <a:rPr dirty="0"/>
              <a:t>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La </a:t>
            </a:r>
            <a:r>
              <a:rPr dirty="0" err="1"/>
              <a:t>empresa</a:t>
            </a:r>
            <a:r>
              <a:rPr dirty="0"/>
              <a:t> </a:t>
            </a:r>
            <a:r>
              <a:rPr dirty="0" err="1"/>
              <a:t>podía</a:t>
            </a:r>
            <a:r>
              <a:rPr dirty="0"/>
              <a:t> </a:t>
            </a:r>
            <a:r>
              <a:rPr dirty="0" err="1"/>
              <a:t>ver</a:t>
            </a:r>
            <a:r>
              <a:rPr dirty="0"/>
              <a:t> </a:t>
            </a:r>
            <a:r>
              <a:rPr dirty="0" err="1"/>
              <a:t>movimientos</a:t>
            </a:r>
            <a:r>
              <a:rPr dirty="0"/>
              <a:t>… </a:t>
            </a:r>
            <a:r>
              <a:rPr dirty="0" err="1"/>
              <a:t>pero</a:t>
            </a:r>
            <a:r>
              <a:rPr dirty="0"/>
              <a:t> no </a:t>
            </a:r>
            <a:r>
              <a:rPr dirty="0" err="1"/>
              <a:t>patrones</a:t>
            </a:r>
            <a:r>
              <a:rPr dirty="0"/>
              <a:t> </a:t>
            </a:r>
            <a:r>
              <a:rPr dirty="0" err="1"/>
              <a:t>operativos</a:t>
            </a:r>
            <a:r>
              <a:rPr dirty="0"/>
              <a:t>.</a:t>
            </a:r>
          </a:p>
        </p:txBody>
      </p:sp>
      <p:grpSp>
        <p:nvGrpSpPr>
          <p:cNvPr id="5" name="Group 19">
            <a:extLst>
              <a:ext uri="{FF2B5EF4-FFF2-40B4-BE49-F238E27FC236}">
                <a16:creationId xmlns:a16="http://schemas.microsoft.com/office/drawing/2014/main" id="{8F96AFD8-2E5A-2723-EC60-4CC1D0BA0F01}"/>
              </a:ext>
            </a:extLst>
          </p:cNvPr>
          <p:cNvGrpSpPr/>
          <p:nvPr/>
        </p:nvGrpSpPr>
        <p:grpSpPr>
          <a:xfrm>
            <a:off x="-418391" y="3467367"/>
            <a:ext cx="836781" cy="836781"/>
            <a:chOff x="0" y="0"/>
            <a:chExt cx="812800" cy="812800"/>
          </a:xfrm>
        </p:grpSpPr>
        <p:sp>
          <p:nvSpPr>
            <p:cNvPr id="6" name="Freeform 20">
              <a:extLst>
                <a:ext uri="{FF2B5EF4-FFF2-40B4-BE49-F238E27FC236}">
                  <a16:creationId xmlns:a16="http://schemas.microsoft.com/office/drawing/2014/main" id="{4910641F-C20F-9B0C-562A-8BBAD80168C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C" sz="900"/>
            </a:p>
          </p:txBody>
        </p:sp>
        <p:sp>
          <p:nvSpPr>
            <p:cNvPr id="7" name="TextBox 21">
              <a:extLst>
                <a:ext uri="{FF2B5EF4-FFF2-40B4-BE49-F238E27FC236}">
                  <a16:creationId xmlns:a16="http://schemas.microsoft.com/office/drawing/2014/main" id="{E1AA2F8E-0091-7114-DCF9-F72C54BEC55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897609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24175" y="360738"/>
            <a:ext cx="1069017" cy="10690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28650" cap="sq">
              <a:gradFill>
                <a:gsLst>
                  <a:gs pos="0">
                    <a:srgbClr val="3972F0">
                      <a:alpha val="100000"/>
                    </a:srgbClr>
                  </a:gs>
                  <a:gs pos="100000">
                    <a:srgbClr val="1CDA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es-EC" sz="9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9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005155" y="2085975"/>
            <a:ext cx="5084228" cy="4364340"/>
            <a:chOff x="-94419" y="-38100"/>
            <a:chExt cx="2802275" cy="3420927"/>
          </a:xfrm>
        </p:grpSpPr>
        <p:sp>
          <p:nvSpPr>
            <p:cNvPr id="6" name="Freeform 6"/>
            <p:cNvSpPr/>
            <p:nvPr/>
          </p:nvSpPr>
          <p:spPr>
            <a:xfrm>
              <a:off x="-94419" y="0"/>
              <a:ext cx="2553284" cy="3382827"/>
            </a:xfrm>
            <a:custGeom>
              <a:avLst/>
              <a:gdLst/>
              <a:ahLst/>
              <a:cxnLst/>
              <a:rect l="l" t="t" r="r" b="b"/>
              <a:pathLst>
                <a:path w="2707856" h="3382827">
                  <a:moveTo>
                    <a:pt x="38403" y="0"/>
                  </a:moveTo>
                  <a:lnTo>
                    <a:pt x="2669453" y="0"/>
                  </a:lnTo>
                  <a:cubicBezTo>
                    <a:pt x="2679638" y="0"/>
                    <a:pt x="2689406" y="4046"/>
                    <a:pt x="2696608" y="11248"/>
                  </a:cubicBezTo>
                  <a:cubicBezTo>
                    <a:pt x="2703810" y="18450"/>
                    <a:pt x="2707856" y="28218"/>
                    <a:pt x="2707856" y="38403"/>
                  </a:cubicBezTo>
                  <a:lnTo>
                    <a:pt x="2707856" y="3344424"/>
                  </a:lnTo>
                  <a:cubicBezTo>
                    <a:pt x="2707856" y="3354609"/>
                    <a:pt x="2703810" y="3364377"/>
                    <a:pt x="2696608" y="3371579"/>
                  </a:cubicBezTo>
                  <a:cubicBezTo>
                    <a:pt x="2689406" y="3378781"/>
                    <a:pt x="2679638" y="3382827"/>
                    <a:pt x="2669453" y="3382827"/>
                  </a:cubicBezTo>
                  <a:lnTo>
                    <a:pt x="38403" y="3382827"/>
                  </a:lnTo>
                  <a:cubicBezTo>
                    <a:pt x="28218" y="3382827"/>
                    <a:pt x="18450" y="3378781"/>
                    <a:pt x="11248" y="3371579"/>
                  </a:cubicBezTo>
                  <a:cubicBezTo>
                    <a:pt x="4046" y="3364377"/>
                    <a:pt x="0" y="3354609"/>
                    <a:pt x="0" y="3344424"/>
                  </a:cubicBezTo>
                  <a:lnTo>
                    <a:pt x="0" y="38403"/>
                  </a:lnTo>
                  <a:cubicBezTo>
                    <a:pt x="0" y="28218"/>
                    <a:pt x="4046" y="18450"/>
                    <a:pt x="11248" y="11248"/>
                  </a:cubicBezTo>
                  <a:cubicBezTo>
                    <a:pt x="18450" y="4046"/>
                    <a:pt x="28218" y="0"/>
                    <a:pt x="3840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C" sz="9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7856" cy="3420927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9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20854" y="1177310"/>
            <a:ext cx="3656893" cy="753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82"/>
              </a:lnSpc>
            </a:pPr>
            <a:r>
              <a:rPr lang="es-EC" sz="1600" b="1" spc="-99" dirty="0">
                <a:solidFill>
                  <a:srgbClr val="000000"/>
                </a:solidFill>
                <a:latin typeface="Open Sauce Bold"/>
              </a:rPr>
              <a:t>Detectamos una alta concentración operacional en un grupo reducido de clientes.</a:t>
            </a:r>
          </a:p>
          <a:p>
            <a:pPr>
              <a:lnSpc>
                <a:spcPts val="1982"/>
              </a:lnSpc>
            </a:pPr>
            <a:endParaRPr lang="en-US" sz="1415" b="1" spc="-99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798993" y="1767361"/>
            <a:ext cx="4062630" cy="1278237"/>
            <a:chOff x="0" y="0"/>
            <a:chExt cx="2139986" cy="6733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39986" cy="673310"/>
            </a:xfrm>
            <a:custGeom>
              <a:avLst/>
              <a:gdLst/>
              <a:ahLst/>
              <a:cxnLst/>
              <a:rect l="l" t="t" r="r" b="b"/>
              <a:pathLst>
                <a:path w="2139986" h="673310">
                  <a:moveTo>
                    <a:pt x="20962" y="0"/>
                  </a:moveTo>
                  <a:lnTo>
                    <a:pt x="2119024" y="0"/>
                  </a:lnTo>
                  <a:cubicBezTo>
                    <a:pt x="2130601" y="0"/>
                    <a:pt x="2139986" y="9385"/>
                    <a:pt x="2139986" y="20962"/>
                  </a:cubicBezTo>
                  <a:lnTo>
                    <a:pt x="2139986" y="652348"/>
                  </a:lnTo>
                  <a:cubicBezTo>
                    <a:pt x="2139986" y="657907"/>
                    <a:pt x="2137777" y="663239"/>
                    <a:pt x="2133846" y="667170"/>
                  </a:cubicBezTo>
                  <a:cubicBezTo>
                    <a:pt x="2129915" y="671101"/>
                    <a:pt x="2124583" y="673310"/>
                    <a:pt x="2119024" y="673310"/>
                  </a:cubicBezTo>
                  <a:lnTo>
                    <a:pt x="20962" y="673310"/>
                  </a:lnTo>
                  <a:cubicBezTo>
                    <a:pt x="15403" y="673310"/>
                    <a:pt x="10071" y="671101"/>
                    <a:pt x="6140" y="667170"/>
                  </a:cubicBezTo>
                  <a:cubicBezTo>
                    <a:pt x="2208" y="663239"/>
                    <a:pt x="0" y="657907"/>
                    <a:pt x="0" y="652348"/>
                  </a:cubicBezTo>
                  <a:lnTo>
                    <a:pt x="0" y="20962"/>
                  </a:lnTo>
                  <a:cubicBezTo>
                    <a:pt x="0" y="15403"/>
                    <a:pt x="2208" y="10071"/>
                    <a:pt x="6140" y="6140"/>
                  </a:cubicBezTo>
                  <a:cubicBezTo>
                    <a:pt x="10071" y="2208"/>
                    <a:pt x="15403" y="0"/>
                    <a:pt x="20962" y="0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es-EC" sz="90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39986" cy="71141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90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98993" y="3207200"/>
            <a:ext cx="4062630" cy="1278237"/>
            <a:chOff x="0" y="0"/>
            <a:chExt cx="2139986" cy="67331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39986" cy="673310"/>
            </a:xfrm>
            <a:custGeom>
              <a:avLst/>
              <a:gdLst/>
              <a:ahLst/>
              <a:cxnLst/>
              <a:rect l="l" t="t" r="r" b="b"/>
              <a:pathLst>
                <a:path w="2139986" h="673310">
                  <a:moveTo>
                    <a:pt x="20962" y="0"/>
                  </a:moveTo>
                  <a:lnTo>
                    <a:pt x="2119024" y="0"/>
                  </a:lnTo>
                  <a:cubicBezTo>
                    <a:pt x="2130601" y="0"/>
                    <a:pt x="2139986" y="9385"/>
                    <a:pt x="2139986" y="20962"/>
                  </a:cubicBezTo>
                  <a:lnTo>
                    <a:pt x="2139986" y="652348"/>
                  </a:lnTo>
                  <a:cubicBezTo>
                    <a:pt x="2139986" y="657907"/>
                    <a:pt x="2137777" y="663239"/>
                    <a:pt x="2133846" y="667170"/>
                  </a:cubicBezTo>
                  <a:cubicBezTo>
                    <a:pt x="2129915" y="671101"/>
                    <a:pt x="2124583" y="673310"/>
                    <a:pt x="2119024" y="673310"/>
                  </a:cubicBezTo>
                  <a:lnTo>
                    <a:pt x="20962" y="673310"/>
                  </a:lnTo>
                  <a:cubicBezTo>
                    <a:pt x="15403" y="673310"/>
                    <a:pt x="10071" y="671101"/>
                    <a:pt x="6140" y="667170"/>
                  </a:cubicBezTo>
                  <a:cubicBezTo>
                    <a:pt x="2208" y="663239"/>
                    <a:pt x="0" y="657907"/>
                    <a:pt x="0" y="652348"/>
                  </a:cubicBezTo>
                  <a:lnTo>
                    <a:pt x="0" y="20962"/>
                  </a:lnTo>
                  <a:cubicBezTo>
                    <a:pt x="0" y="15403"/>
                    <a:pt x="2208" y="10071"/>
                    <a:pt x="6140" y="6140"/>
                  </a:cubicBezTo>
                  <a:cubicBezTo>
                    <a:pt x="10071" y="2208"/>
                    <a:pt x="15403" y="0"/>
                    <a:pt x="20962" y="0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es-EC" sz="90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139986" cy="71141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900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543335" y="3131346"/>
            <a:ext cx="836781" cy="83678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C" sz="90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900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0" y="4914062"/>
            <a:ext cx="9144000" cy="6422087"/>
            <a:chOff x="0" y="0"/>
            <a:chExt cx="4816593" cy="338282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6592" cy="3382827"/>
            </a:xfrm>
            <a:custGeom>
              <a:avLst/>
              <a:gdLst/>
              <a:ahLst/>
              <a:cxnLst/>
              <a:rect l="l" t="t" r="r" b="b"/>
              <a:pathLst>
                <a:path w="4816592" h="3382827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3361237"/>
                  </a:lnTo>
                  <a:cubicBezTo>
                    <a:pt x="4816592" y="3366963"/>
                    <a:pt x="4814318" y="3372455"/>
                    <a:pt x="4810269" y="3376504"/>
                  </a:cubicBezTo>
                  <a:cubicBezTo>
                    <a:pt x="4806220" y="3380553"/>
                    <a:pt x="4800728" y="3382827"/>
                    <a:pt x="4795002" y="3382827"/>
                  </a:cubicBezTo>
                  <a:lnTo>
                    <a:pt x="21590" y="3382827"/>
                  </a:lnTo>
                  <a:cubicBezTo>
                    <a:pt x="9666" y="3382827"/>
                    <a:pt x="0" y="3373161"/>
                    <a:pt x="0" y="3361237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3972F0"/>
            </a:solidFill>
          </p:spPr>
          <p:txBody>
            <a:bodyPr/>
            <a:lstStyle/>
            <a:p>
              <a:endParaRPr lang="es-EC" sz="90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816593" cy="3420927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900"/>
            </a:p>
          </p:txBody>
        </p:sp>
      </p:grp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1988FD3-EAC9-43C6-5F38-AAB43F048882}"/>
              </a:ext>
            </a:extLst>
          </p:cNvPr>
          <p:cNvSpPr txBox="1"/>
          <p:nvPr/>
        </p:nvSpPr>
        <p:spPr>
          <a:xfrm>
            <a:off x="828772" y="1862482"/>
            <a:ext cx="37011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C" sz="1200" dirty="0"/>
          </a:p>
          <a:p>
            <a:r>
              <a:rPr lang="es-EC" sz="1200" dirty="0"/>
              <a:t>Esto genera dependencia comercial y aumenta la vulnerabilidad ante pérdidas, disminución de operaciones o cambios en la demanda.</a:t>
            </a:r>
          </a:p>
          <a:p>
            <a:br>
              <a:rPr lang="es-EC" sz="1200" dirty="0"/>
            </a:br>
            <a:endParaRPr lang="es-EC" sz="1200" dirty="0"/>
          </a:p>
          <a:p>
            <a:endParaRPr lang="es-EC" sz="1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5B5EB0E-8806-AF60-C740-B5DA64970E3F}"/>
              </a:ext>
            </a:extLst>
          </p:cNvPr>
          <p:cNvSpPr txBox="1"/>
          <p:nvPr/>
        </p:nvSpPr>
        <p:spPr>
          <a:xfrm>
            <a:off x="900223" y="3366977"/>
            <a:ext cx="3671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200" dirty="0"/>
              <a:t>Además, evidenció la necesidad de segmentar estratégicamente la cartera para diferenciar clientes críticos, clientes de crecimiento y clientes en riesgo.</a:t>
            </a:r>
          </a:p>
          <a:p>
            <a:endParaRPr lang="es-EC" dirty="0"/>
          </a:p>
        </p:txBody>
      </p:sp>
      <p:pic>
        <p:nvPicPr>
          <p:cNvPr id="1026" name="Picture 2" descr="cómo se fabrican los contenedores">
            <a:extLst>
              <a:ext uri="{FF2B5EF4-FFF2-40B4-BE49-F238E27FC236}">
                <a16:creationId xmlns:a16="http://schemas.microsoft.com/office/drawing/2014/main" id="{51C6FD30-DB5F-3F77-0C5D-85AE35AFD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227" y="2251679"/>
            <a:ext cx="4431839" cy="248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972F0"/>
          </a:solidFill>
          <a:ln w="12700">
            <a:solidFill>
              <a:srgbClr val="3972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 </a:t>
            </a:r>
            <a:r>
              <a:rPr lang="en-US" sz="2000" b="1" dirty="0" err="1">
                <a:solidFill>
                  <a:srgbClr val="FFFFFF"/>
                </a:solidFill>
              </a:rPr>
              <a:t>Descripción</a:t>
            </a:r>
            <a:r>
              <a:rPr lang="en-US" sz="2000" b="1" dirty="0">
                <a:solidFill>
                  <a:srgbClr val="FFFFFF"/>
                </a:solidFill>
              </a:rPr>
              <a:t> del Dataset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135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Clientes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Analizados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960120"/>
            <a:ext cx="192024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2450592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17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50592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Variables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Registradas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960120"/>
            <a:ext cx="1920240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4626864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14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26864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Puertos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Operativos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960120"/>
            <a:ext cx="1920240" cy="13716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6803136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2022–2026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03136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Años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Cobertura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560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</a:rPr>
              <a:t>Variables del Dataset: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926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▸  </a:t>
            </a:r>
            <a:r>
              <a:rPr lang="en-US" sz="1100" dirty="0">
                <a:solidFill>
                  <a:srgbClr val="334155"/>
                </a:solidFill>
              </a:rPr>
              <a:t>Vol_Total, Vol_Imp, Vol_Exp: Volúmenes de </a:t>
            </a:r>
            <a:r>
              <a:rPr lang="en-US" sz="1100" dirty="0" err="1">
                <a:solidFill>
                  <a:srgbClr val="334155"/>
                </a:solidFill>
              </a:rPr>
              <a:t>operación</a:t>
            </a:r>
            <a:r>
              <a:rPr lang="en-US" sz="1100" dirty="0">
                <a:solidFill>
                  <a:srgbClr val="334155"/>
                </a:solidFill>
              </a:rPr>
              <a:t>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2095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▸  </a:t>
            </a:r>
            <a:r>
              <a:rPr lang="en-US" sz="1100" dirty="0">
                <a:solidFill>
                  <a:srgbClr val="334155"/>
                </a:solidFill>
              </a:rPr>
              <a:t>Ratio_Imp: Proporción de carga de importación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493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▸  </a:t>
            </a:r>
            <a:r>
              <a:rPr lang="en-US" sz="1100" dirty="0">
                <a:solidFill>
                  <a:srgbClr val="334155"/>
                </a:solidFill>
              </a:rPr>
              <a:t>Perfil_Movimiento: Solo Imp / Solo Exp / Mixto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7764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▸  </a:t>
            </a:r>
            <a:r>
              <a:rPr lang="en-US" sz="1100" dirty="0">
                <a:solidFill>
                  <a:srgbClr val="334155"/>
                </a:solidFill>
              </a:rPr>
              <a:t>Num_Puertos, Puerto_Top, Seg_Puertos: Geografía operativa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0599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▸  </a:t>
            </a:r>
            <a:r>
              <a:rPr lang="en-US" sz="1100" dirty="0">
                <a:solidFill>
                  <a:srgbClr val="334155"/>
                </a:solidFill>
              </a:rPr>
              <a:t>Tendencia: Comportamiento histórico del volumen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343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▸  </a:t>
            </a:r>
            <a:r>
              <a:rPr lang="en-US" sz="1100" dirty="0" err="1">
                <a:solidFill>
                  <a:srgbClr val="334155"/>
                </a:solidFill>
              </a:rPr>
              <a:t>Tipo_Cliente</a:t>
            </a:r>
            <a:r>
              <a:rPr lang="en-US" sz="1100" dirty="0">
                <a:solidFill>
                  <a:srgbClr val="334155"/>
                </a:solidFill>
              </a:rPr>
              <a:t>, Churn: Segmentación comercial (A/B/C)  y </a:t>
            </a:r>
            <a:r>
              <a:rPr lang="en-US" sz="1100" dirty="0" err="1">
                <a:solidFill>
                  <a:srgbClr val="334155"/>
                </a:solidFill>
              </a:rPr>
              <a:t>pérdida</a:t>
            </a:r>
            <a:r>
              <a:rPr lang="en-US" sz="1100" dirty="0">
                <a:solidFill>
                  <a:srgbClr val="334155"/>
                </a:solidFill>
              </a:rPr>
              <a:t> de </a:t>
            </a:r>
            <a:r>
              <a:rPr lang="en-US" sz="1100" dirty="0" err="1">
                <a:solidFill>
                  <a:srgbClr val="334155"/>
                </a:solidFill>
              </a:rPr>
              <a:t>clientes</a:t>
            </a:r>
            <a:r>
              <a:rPr lang="en-US" sz="1100" dirty="0">
                <a:solidFill>
                  <a:srgbClr val="334155"/>
                </a:solidFill>
              </a:rPr>
              <a:t>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6268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▸  </a:t>
            </a:r>
            <a:r>
              <a:rPr lang="en-US" sz="1100" dirty="0">
                <a:solidFill>
                  <a:srgbClr val="334155"/>
                </a:solidFill>
              </a:rPr>
              <a:t>Anio_Inicio, Anio_Fin, Num_Años: Temporalidad del cliente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850"/>
                </a:solidFill>
              </a:defRPr>
            </a:pPr>
            <a:r>
              <a:t>Pasamos de movimientos… a comportamiento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5A5A"/>
                </a:solidFill>
              </a:defRPr>
            </a:pPr>
            <a:r>
              <a:t>La transformación más importante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1513" y="1975961"/>
            <a:ext cx="847248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dirty="0" err="1"/>
              <a:t>Convertimos</a:t>
            </a:r>
            <a:r>
              <a:rPr dirty="0"/>
              <a:t> </a:t>
            </a:r>
            <a:r>
              <a:rPr dirty="0" err="1"/>
              <a:t>operaciones</a:t>
            </a:r>
            <a:r>
              <a:rPr dirty="0"/>
              <a:t> </a:t>
            </a:r>
            <a:r>
              <a:rPr dirty="0" err="1"/>
              <a:t>individuales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perfiles</a:t>
            </a:r>
            <a:r>
              <a:rPr dirty="0"/>
              <a:t> </a:t>
            </a:r>
            <a:r>
              <a:rPr dirty="0" err="1"/>
              <a:t>operativos</a:t>
            </a:r>
            <a:r>
              <a:rPr dirty="0"/>
              <a:t> </a:t>
            </a:r>
            <a:r>
              <a:rPr dirty="0" err="1"/>
              <a:t>completos</a:t>
            </a:r>
            <a:r>
              <a:rPr dirty="0"/>
              <a:t>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Cada </a:t>
            </a:r>
            <a:r>
              <a:rPr dirty="0" err="1"/>
              <a:t>cliente</a:t>
            </a:r>
            <a:r>
              <a:rPr dirty="0"/>
              <a:t> </a:t>
            </a:r>
            <a:r>
              <a:rPr dirty="0" err="1"/>
              <a:t>comenzó</a:t>
            </a:r>
            <a:r>
              <a:rPr dirty="0"/>
              <a:t> a </a:t>
            </a:r>
            <a:r>
              <a:rPr dirty="0" err="1"/>
              <a:t>tener</a:t>
            </a:r>
            <a:r>
              <a:rPr dirty="0"/>
              <a:t> variables de </a:t>
            </a:r>
            <a:r>
              <a:rPr dirty="0" err="1"/>
              <a:t>comportamiento</a:t>
            </a:r>
            <a:r>
              <a:rPr dirty="0"/>
              <a:t> histórico.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Eso </a:t>
            </a:r>
            <a:r>
              <a:rPr dirty="0" err="1"/>
              <a:t>permitió</a:t>
            </a:r>
            <a:r>
              <a:rPr dirty="0"/>
              <a:t> </a:t>
            </a:r>
            <a:r>
              <a:rPr dirty="0" err="1"/>
              <a:t>construir</a:t>
            </a:r>
            <a:r>
              <a:rPr dirty="0"/>
              <a:t> </a:t>
            </a:r>
            <a:r>
              <a:rPr dirty="0" err="1"/>
              <a:t>segmentación</a:t>
            </a:r>
            <a:r>
              <a:rPr dirty="0"/>
              <a:t> </a:t>
            </a:r>
            <a:r>
              <a:rPr dirty="0" err="1"/>
              <a:t>analítica</a:t>
            </a:r>
            <a:r>
              <a:rPr dirty="0"/>
              <a:t> real.</a:t>
            </a:r>
          </a:p>
        </p:txBody>
      </p:sp>
      <p:grpSp>
        <p:nvGrpSpPr>
          <p:cNvPr id="5" name="Group 19">
            <a:extLst>
              <a:ext uri="{FF2B5EF4-FFF2-40B4-BE49-F238E27FC236}">
                <a16:creationId xmlns:a16="http://schemas.microsoft.com/office/drawing/2014/main" id="{473B5D24-E028-A01C-07A7-65F5069462A0}"/>
              </a:ext>
            </a:extLst>
          </p:cNvPr>
          <p:cNvGrpSpPr/>
          <p:nvPr/>
        </p:nvGrpSpPr>
        <p:grpSpPr>
          <a:xfrm>
            <a:off x="-418391" y="3467367"/>
            <a:ext cx="836781" cy="836781"/>
            <a:chOff x="0" y="0"/>
            <a:chExt cx="812800" cy="812800"/>
          </a:xfrm>
        </p:grpSpPr>
        <p:sp>
          <p:nvSpPr>
            <p:cNvPr id="6" name="Freeform 20">
              <a:extLst>
                <a:ext uri="{FF2B5EF4-FFF2-40B4-BE49-F238E27FC236}">
                  <a16:creationId xmlns:a16="http://schemas.microsoft.com/office/drawing/2014/main" id="{B906C640-7B00-F9D0-9E73-02E13257DBC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C" sz="900"/>
            </a:p>
          </p:txBody>
        </p:sp>
        <p:sp>
          <p:nvSpPr>
            <p:cNvPr id="7" name="TextBox 21">
              <a:extLst>
                <a:ext uri="{FF2B5EF4-FFF2-40B4-BE49-F238E27FC236}">
                  <a16:creationId xmlns:a16="http://schemas.microsoft.com/office/drawing/2014/main" id="{04420276-EF76-709E-65EF-93363F29673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42478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850"/>
                </a:solidFill>
              </a:defRPr>
            </a:pPr>
            <a:r>
              <a:t>Los patrones comenzaron a aparecer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5A5A"/>
                </a:solidFill>
              </a:defRPr>
            </a:pPr>
            <a:r>
              <a:t>Exploración y descubrimiento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90040"/>
            <a:ext cx="71394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dirty="0" err="1"/>
              <a:t>Algunos</a:t>
            </a:r>
            <a:r>
              <a:rPr dirty="0"/>
              <a:t> </a:t>
            </a:r>
            <a:r>
              <a:rPr dirty="0" err="1"/>
              <a:t>clientes</a:t>
            </a:r>
            <a:r>
              <a:rPr dirty="0"/>
              <a:t> </a:t>
            </a:r>
            <a:r>
              <a:rPr dirty="0" err="1"/>
              <a:t>mostraban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estabilidad</a:t>
            </a:r>
            <a:r>
              <a:rPr dirty="0"/>
              <a:t> </a:t>
            </a:r>
            <a:r>
              <a:rPr dirty="0" err="1"/>
              <a:t>operativa</a:t>
            </a:r>
            <a:r>
              <a:rPr dirty="0"/>
              <a:t>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 err="1"/>
              <a:t>Otros</a:t>
            </a:r>
            <a:r>
              <a:rPr dirty="0"/>
              <a:t> </a:t>
            </a:r>
            <a:r>
              <a:rPr dirty="0" err="1"/>
              <a:t>tenían</a:t>
            </a:r>
            <a:r>
              <a:rPr dirty="0"/>
              <a:t> </a:t>
            </a:r>
            <a:r>
              <a:rPr dirty="0" err="1"/>
              <a:t>operaciones</a:t>
            </a:r>
            <a:r>
              <a:rPr dirty="0"/>
              <a:t> </a:t>
            </a:r>
            <a:r>
              <a:rPr dirty="0" err="1"/>
              <a:t>ocasionales</a:t>
            </a:r>
            <a:r>
              <a:rPr dirty="0"/>
              <a:t> o </a:t>
            </a:r>
            <a:r>
              <a:rPr dirty="0" err="1"/>
              <a:t>decrecientes</a:t>
            </a:r>
            <a:r>
              <a:rPr dirty="0"/>
              <a:t>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También </a:t>
            </a:r>
            <a:r>
              <a:rPr dirty="0" err="1"/>
              <a:t>aparecieron</a:t>
            </a:r>
            <a:r>
              <a:rPr dirty="0"/>
              <a:t> </a:t>
            </a:r>
            <a:r>
              <a:rPr dirty="0" err="1"/>
              <a:t>clientes</a:t>
            </a:r>
            <a:r>
              <a:rPr dirty="0"/>
              <a:t> </a:t>
            </a:r>
            <a:r>
              <a:rPr dirty="0" err="1"/>
              <a:t>altamente</a:t>
            </a:r>
            <a:r>
              <a:rPr dirty="0"/>
              <a:t> </a:t>
            </a:r>
            <a:r>
              <a:rPr dirty="0" err="1"/>
              <a:t>dependientes</a:t>
            </a:r>
            <a:r>
              <a:rPr dirty="0"/>
              <a:t> de </a:t>
            </a:r>
            <a:r>
              <a:rPr dirty="0" err="1"/>
              <a:t>pocos</a:t>
            </a:r>
            <a:r>
              <a:rPr dirty="0"/>
              <a:t> </a:t>
            </a:r>
            <a:r>
              <a:rPr dirty="0" err="1"/>
              <a:t>puertos</a:t>
            </a:r>
            <a:r>
              <a:rPr dirty="0"/>
              <a:t>.</a:t>
            </a:r>
          </a:p>
        </p:txBody>
      </p:sp>
      <p:grpSp>
        <p:nvGrpSpPr>
          <p:cNvPr id="5" name="Group 19">
            <a:extLst>
              <a:ext uri="{FF2B5EF4-FFF2-40B4-BE49-F238E27FC236}">
                <a16:creationId xmlns:a16="http://schemas.microsoft.com/office/drawing/2014/main" id="{F2773519-744D-B79E-AB7A-6385564DE422}"/>
              </a:ext>
            </a:extLst>
          </p:cNvPr>
          <p:cNvGrpSpPr/>
          <p:nvPr/>
        </p:nvGrpSpPr>
        <p:grpSpPr>
          <a:xfrm>
            <a:off x="-418391" y="3467367"/>
            <a:ext cx="836781" cy="836781"/>
            <a:chOff x="0" y="0"/>
            <a:chExt cx="812800" cy="812800"/>
          </a:xfrm>
        </p:grpSpPr>
        <p:sp>
          <p:nvSpPr>
            <p:cNvPr id="6" name="Freeform 20">
              <a:extLst>
                <a:ext uri="{FF2B5EF4-FFF2-40B4-BE49-F238E27FC236}">
                  <a16:creationId xmlns:a16="http://schemas.microsoft.com/office/drawing/2014/main" id="{0CC5AEF9-5BED-4A95-BC7A-FF52E5CD38E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C" sz="900"/>
            </a:p>
          </p:txBody>
        </p:sp>
        <p:sp>
          <p:nvSpPr>
            <p:cNvPr id="7" name="TextBox 21">
              <a:extLst>
                <a:ext uri="{FF2B5EF4-FFF2-40B4-BE49-F238E27FC236}">
                  <a16:creationId xmlns:a16="http://schemas.microsoft.com/office/drawing/2014/main" id="{0FE7935C-15FD-005F-8A8C-9F1AD8AAD48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9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972F0"/>
          </a:solidFill>
          <a:ln w="12700">
            <a:solidFill>
              <a:srgbClr val="3972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</a:rPr>
              <a:t>Análisis</a:t>
            </a:r>
            <a:r>
              <a:rPr lang="en-US" sz="2000" b="1" dirty="0">
                <a:solidFill>
                  <a:srgbClr val="FFFFFF"/>
                </a:solidFill>
              </a:rPr>
              <a:t> Exploratorio —  Tendencias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50000"/>
          <a:stretch>
            <a:fillRect/>
          </a:stretch>
        </p:blipFill>
        <p:spPr>
          <a:xfrm>
            <a:off x="3819698" y="882395"/>
            <a:ext cx="4389120" cy="399052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0E68AE3-066A-0B35-01B2-CFBD42E44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36" y="2848356"/>
            <a:ext cx="3057145" cy="202456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3C9A0F6-7C57-ADA0-08CA-545E0E42F6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236" y="882396"/>
            <a:ext cx="3057145" cy="19073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5188793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850"/>
                </a:solidFill>
              </a:defRPr>
            </a:pPr>
            <a:r>
              <a:rPr dirty="0"/>
              <a:t>No </a:t>
            </a:r>
            <a:r>
              <a:rPr dirty="0" err="1"/>
              <a:t>buscábamos</a:t>
            </a:r>
            <a:r>
              <a:rPr dirty="0"/>
              <a:t> </a:t>
            </a:r>
            <a:r>
              <a:rPr dirty="0" err="1"/>
              <a:t>muchos</a:t>
            </a:r>
            <a:r>
              <a:rPr dirty="0"/>
              <a:t> clusters. </a:t>
            </a:r>
            <a:endParaRPr lang="es-419" dirty="0"/>
          </a:p>
          <a:p>
            <a:pPr>
              <a:defRPr sz="2800" b="1">
                <a:solidFill>
                  <a:srgbClr val="142850"/>
                </a:solidFill>
              </a:defRPr>
            </a:pPr>
            <a:r>
              <a:rPr dirty="0" err="1"/>
              <a:t>Buscábamos</a:t>
            </a:r>
            <a:r>
              <a:rPr dirty="0"/>
              <a:t> clusters </a:t>
            </a:r>
            <a:r>
              <a:rPr dirty="0" err="1"/>
              <a:t>útiles</a:t>
            </a:r>
            <a:r>
              <a:rPr dirty="0"/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5A5A"/>
                </a:solidFill>
              </a:defRPr>
            </a:pPr>
            <a:r>
              <a:t>Business Analytics aplicado a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57388"/>
            <a:ext cx="71151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El </a:t>
            </a:r>
            <a:r>
              <a:rPr dirty="0" err="1"/>
              <a:t>objetivo</a:t>
            </a:r>
            <a:r>
              <a:rPr dirty="0"/>
              <a:t> no era </a:t>
            </a:r>
            <a:r>
              <a:rPr dirty="0" err="1"/>
              <a:t>solamente</a:t>
            </a:r>
            <a:r>
              <a:rPr dirty="0"/>
              <a:t> </a:t>
            </a:r>
            <a:r>
              <a:rPr dirty="0" err="1"/>
              <a:t>hacer</a:t>
            </a:r>
            <a:r>
              <a:rPr dirty="0"/>
              <a:t> clustering.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El </a:t>
            </a:r>
            <a:r>
              <a:rPr dirty="0" err="1"/>
              <a:t>objetivo</a:t>
            </a:r>
            <a:r>
              <a:rPr dirty="0"/>
              <a:t> era </a:t>
            </a:r>
            <a:r>
              <a:rPr dirty="0" err="1"/>
              <a:t>encontrar</a:t>
            </a:r>
            <a:r>
              <a:rPr dirty="0"/>
              <a:t> </a:t>
            </a:r>
            <a:r>
              <a:rPr dirty="0" err="1"/>
              <a:t>segmentos</a:t>
            </a:r>
            <a:r>
              <a:rPr dirty="0"/>
              <a:t> </a:t>
            </a:r>
            <a:r>
              <a:rPr dirty="0" err="1"/>
              <a:t>interpretables</a:t>
            </a:r>
            <a:r>
              <a:rPr dirty="0"/>
              <a:t> y </a:t>
            </a:r>
            <a:r>
              <a:rPr dirty="0" err="1"/>
              <a:t>accionables</a:t>
            </a:r>
            <a:r>
              <a:rPr dirty="0"/>
              <a:t>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La </a:t>
            </a:r>
            <a:r>
              <a:rPr dirty="0" err="1"/>
              <a:t>matemática</a:t>
            </a:r>
            <a:r>
              <a:rPr dirty="0"/>
              <a:t> </a:t>
            </a:r>
            <a:r>
              <a:rPr dirty="0" err="1"/>
              <a:t>debía</a:t>
            </a:r>
            <a:r>
              <a:rPr dirty="0"/>
              <a:t> </a:t>
            </a:r>
            <a:r>
              <a:rPr dirty="0" err="1"/>
              <a:t>ayudar</a:t>
            </a:r>
            <a:r>
              <a:rPr dirty="0"/>
              <a:t> a </a:t>
            </a:r>
            <a:r>
              <a:rPr dirty="0" err="1"/>
              <a:t>tomar</a:t>
            </a:r>
            <a:r>
              <a:rPr dirty="0"/>
              <a:t> </a:t>
            </a:r>
            <a:r>
              <a:rPr dirty="0" err="1"/>
              <a:t>decisiones</a:t>
            </a:r>
            <a:r>
              <a:rPr dirty="0"/>
              <a:t> reales.</a:t>
            </a:r>
          </a:p>
        </p:txBody>
      </p:sp>
      <p:grpSp>
        <p:nvGrpSpPr>
          <p:cNvPr id="5" name="Group 19">
            <a:extLst>
              <a:ext uri="{FF2B5EF4-FFF2-40B4-BE49-F238E27FC236}">
                <a16:creationId xmlns:a16="http://schemas.microsoft.com/office/drawing/2014/main" id="{035D27CC-94F6-5469-EB2F-9D0B6E9C7A83}"/>
              </a:ext>
            </a:extLst>
          </p:cNvPr>
          <p:cNvGrpSpPr/>
          <p:nvPr/>
        </p:nvGrpSpPr>
        <p:grpSpPr>
          <a:xfrm>
            <a:off x="-418391" y="3481655"/>
            <a:ext cx="836781" cy="836781"/>
            <a:chOff x="0" y="0"/>
            <a:chExt cx="812800" cy="812800"/>
          </a:xfrm>
        </p:grpSpPr>
        <p:sp>
          <p:nvSpPr>
            <p:cNvPr id="6" name="Freeform 20">
              <a:extLst>
                <a:ext uri="{FF2B5EF4-FFF2-40B4-BE49-F238E27FC236}">
                  <a16:creationId xmlns:a16="http://schemas.microsoft.com/office/drawing/2014/main" id="{E305CFAD-A906-CDFA-3240-129C7369ADF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C" sz="900"/>
            </a:p>
          </p:txBody>
        </p:sp>
        <p:sp>
          <p:nvSpPr>
            <p:cNvPr id="7" name="TextBox 21">
              <a:extLst>
                <a:ext uri="{FF2B5EF4-FFF2-40B4-BE49-F238E27FC236}">
                  <a16:creationId xmlns:a16="http://schemas.microsoft.com/office/drawing/2014/main" id="{072449F1-32DA-CC44-4B8D-4C51C9F1110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50692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972F0"/>
          </a:solidFill>
          <a:ln w="12700">
            <a:solidFill>
              <a:srgbClr val="3972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</a:rPr>
              <a:t>Selección</a:t>
            </a:r>
            <a:r>
              <a:rPr lang="en-US" sz="2000" b="1" dirty="0">
                <a:solidFill>
                  <a:srgbClr val="FFFFFF"/>
                </a:solidFill>
              </a:rPr>
              <a:t> de Variables para Clustering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</a:rPr>
              <a:t>Nuevas variables creadas (Feature Engineering):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05740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</a:rPr>
              <a:t>Vol_Total</a:t>
            </a:r>
            <a:r>
              <a:rPr lang="en-US" sz="1000" b="1" dirty="0">
                <a:solidFill>
                  <a:srgbClr val="FFFFFF"/>
                </a:solidFill>
              </a:rPr>
              <a:t> – </a:t>
            </a:r>
            <a:r>
              <a:rPr lang="en-US" sz="1000" b="1" dirty="0" err="1">
                <a:solidFill>
                  <a:srgbClr val="FFFFFF"/>
                </a:solidFill>
              </a:rPr>
              <a:t>Vol_Imp</a:t>
            </a:r>
            <a:r>
              <a:rPr lang="en-US" sz="1000" b="1" dirty="0">
                <a:solidFill>
                  <a:srgbClr val="FFFFFF"/>
                </a:solidFill>
              </a:rPr>
              <a:t> – </a:t>
            </a:r>
            <a:r>
              <a:rPr lang="en-US" sz="1000" b="1" dirty="0" err="1">
                <a:solidFill>
                  <a:srgbClr val="FFFFFF"/>
                </a:solidFill>
              </a:rPr>
              <a:t>Vol_Exp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18508" y="1417320"/>
            <a:ext cx="61597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334155"/>
                </a:solidFill>
              </a:rPr>
              <a:t>Magnitud</a:t>
            </a:r>
            <a:r>
              <a:rPr lang="en-US" sz="1100" dirty="0">
                <a:solidFill>
                  <a:srgbClr val="334155"/>
                </a:solidFill>
              </a:rPr>
              <a:t> operativa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205740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320039" y="1874520"/>
            <a:ext cx="1979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</a:rPr>
              <a:t>Prom_Mov_A</a:t>
            </a:r>
            <a:r>
              <a:rPr lang="es-EC" sz="1000" b="1" dirty="0" err="1">
                <a:solidFill>
                  <a:srgbClr val="FFFFFF"/>
                </a:solidFill>
              </a:rPr>
              <a:t>ño</a:t>
            </a:r>
            <a:r>
              <a:rPr lang="es-EC" sz="1000" b="1" dirty="0">
                <a:solidFill>
                  <a:srgbClr val="FFFFFF"/>
                </a:solidFill>
              </a:rPr>
              <a:t>, Prom</a:t>
            </a:r>
            <a:r>
              <a:rPr lang="en-US" sz="1000" b="1" dirty="0">
                <a:solidFill>
                  <a:srgbClr val="FFFFFF"/>
                </a:solidFill>
              </a:rPr>
              <a:t>_2022 al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18508" y="1874520"/>
            <a:ext cx="6159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334155"/>
                </a:solidFill>
              </a:rPr>
              <a:t>Historial</a:t>
            </a:r>
            <a:r>
              <a:rPr lang="en-US" sz="1100" dirty="0">
                <a:solidFill>
                  <a:srgbClr val="334155"/>
                </a:solidFill>
              </a:rPr>
              <a:t> - </a:t>
            </a:r>
            <a:r>
              <a:rPr lang="en-US" sz="1100" dirty="0" err="1">
                <a:solidFill>
                  <a:srgbClr val="334155"/>
                </a:solidFill>
              </a:rPr>
              <a:t>Tendencia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86000"/>
            <a:ext cx="205740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320040" y="2331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</a:rPr>
              <a:t>Num_puertos</a:t>
            </a:r>
            <a:r>
              <a:rPr lang="en-US" sz="1000" b="1" dirty="0">
                <a:solidFill>
                  <a:srgbClr val="FFFFFF"/>
                </a:solidFill>
              </a:rPr>
              <a:t>, </a:t>
            </a:r>
            <a:r>
              <a:rPr lang="en-US" sz="1000" b="1" dirty="0" err="1">
                <a:solidFill>
                  <a:srgbClr val="FFFFFF"/>
                </a:solidFill>
              </a:rPr>
              <a:t>Seg_puertos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18508" y="2331720"/>
            <a:ext cx="6159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334155"/>
                </a:solidFill>
              </a:rPr>
              <a:t>Diversidad</a:t>
            </a:r>
            <a:r>
              <a:rPr lang="en-US" sz="1100" dirty="0">
                <a:solidFill>
                  <a:srgbClr val="334155"/>
                </a:solidFill>
              </a:rPr>
              <a:t> </a:t>
            </a:r>
            <a:r>
              <a:rPr lang="en-US" sz="1100" dirty="0" err="1">
                <a:solidFill>
                  <a:srgbClr val="334155"/>
                </a:solidFill>
              </a:rPr>
              <a:t>geogr</a:t>
            </a:r>
            <a:r>
              <a:rPr lang="es-EC" sz="1100" dirty="0">
                <a:solidFill>
                  <a:srgbClr val="334155"/>
                </a:solidFill>
              </a:rPr>
              <a:t>á</a:t>
            </a:r>
            <a:r>
              <a:rPr lang="en-US" sz="1100" dirty="0" err="1">
                <a:solidFill>
                  <a:srgbClr val="334155"/>
                </a:solidFill>
              </a:rPr>
              <a:t>fica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743200"/>
            <a:ext cx="205740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320040" y="2788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</a:rPr>
              <a:t>Tendencia</a:t>
            </a:r>
            <a:r>
              <a:rPr lang="en-US" sz="1000" b="1" dirty="0">
                <a:solidFill>
                  <a:srgbClr val="FFFFFF"/>
                </a:solidFill>
              </a:rPr>
              <a:t> – </a:t>
            </a:r>
            <a:r>
              <a:rPr lang="en-US" sz="1000" b="1" dirty="0" err="1">
                <a:solidFill>
                  <a:srgbClr val="FFFFFF"/>
                </a:solidFill>
              </a:rPr>
              <a:t>Tipo_cliente</a:t>
            </a:r>
            <a:r>
              <a:rPr lang="en-US" sz="1000" b="1" dirty="0">
                <a:solidFill>
                  <a:srgbClr val="FFFFFF"/>
                </a:solidFill>
              </a:rPr>
              <a:t> - Churn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18506" y="2788920"/>
            <a:ext cx="61597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334155"/>
                </a:solidFill>
              </a:rPr>
              <a:t>Comportamiento</a:t>
            </a:r>
            <a:r>
              <a:rPr lang="en-US" sz="1100" dirty="0">
                <a:solidFill>
                  <a:srgbClr val="334155"/>
                </a:solidFill>
              </a:rPr>
              <a:t> </a:t>
            </a:r>
            <a:r>
              <a:rPr lang="en-US" sz="1100" dirty="0" err="1">
                <a:solidFill>
                  <a:srgbClr val="334155"/>
                </a:solidFill>
              </a:rPr>
              <a:t>cliente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3246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Es_Multipuerto</a:t>
            </a:r>
            <a:endParaRPr lang="en-US" sz="10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2CD6990D-A3BE-E244-D761-443006BB5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832" y="919942"/>
            <a:ext cx="3462786" cy="4108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972F0"/>
          </a:solidFill>
          <a:ln w="12700">
            <a:solidFill>
              <a:srgbClr val="3972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</a:rPr>
              <a:t>Determinación</a:t>
            </a:r>
            <a:r>
              <a:rPr lang="en-US" sz="2000" b="1" dirty="0">
                <a:solidFill>
                  <a:srgbClr val="FFFFFF"/>
                </a:solidFill>
              </a:rPr>
              <a:t> del Número de Clusters (K=2)</a:t>
            </a:r>
            <a:endParaRPr lang="en-US" sz="2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56DD076-C361-A1E8-3068-059608C0A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47019"/>
            <a:ext cx="9144000" cy="22494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972F0"/>
          </a:solidFill>
          <a:ln w="12700">
            <a:solidFill>
              <a:srgbClr val="3972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</a:rPr>
              <a:t>Resultados</a:t>
            </a:r>
            <a:r>
              <a:rPr lang="en-US" sz="2000" b="1" dirty="0">
                <a:solidFill>
                  <a:srgbClr val="FFFFFF"/>
                </a:solidFill>
              </a:rPr>
              <a:t>: 4 Clusters Identificados</a:t>
            </a:r>
            <a:endParaRPr lang="en-US" sz="20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46A466B-E801-E12E-4C5F-313E5C990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9441"/>
            <a:ext cx="5424055" cy="247033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6A286EE-1389-A100-8A29-EE3AA8449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4055" y="851308"/>
            <a:ext cx="3664528" cy="213434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A08113E-503B-15B6-6BE2-B5AC4DD3DA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8745" y="3089564"/>
            <a:ext cx="3581400" cy="20539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972F0"/>
          </a:solidFill>
          <a:ln w="12700">
            <a:solidFill>
              <a:srgbClr val="3972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Análisis Detallado por Cluster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934974"/>
            <a:ext cx="1821873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-161015" y="960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C1: </a:t>
            </a:r>
            <a:r>
              <a:rPr lang="en-US" sz="1000" b="1" dirty="0" err="1">
                <a:solidFill>
                  <a:srgbClr val="FFFFFF"/>
                </a:solidFill>
              </a:rPr>
              <a:t>Critico</a:t>
            </a:r>
            <a:r>
              <a:rPr lang="en-US" sz="1000" b="1" dirty="0">
                <a:solidFill>
                  <a:srgbClr val="FFFFFF"/>
                </a:solidFill>
              </a:rPr>
              <a:t> </a:t>
            </a:r>
            <a:r>
              <a:rPr lang="en-US" sz="1000" b="1" dirty="0" err="1">
                <a:solidFill>
                  <a:srgbClr val="FFFFFF"/>
                </a:solidFill>
              </a:rPr>
              <a:t>activo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1407760"/>
            <a:ext cx="1821873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-161015" y="1446597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14 </a:t>
            </a:r>
            <a:r>
              <a:rPr lang="en-US" sz="1100" b="1" dirty="0" err="1">
                <a:solidFill>
                  <a:srgbClr val="065A82"/>
                </a:solidFill>
              </a:rPr>
              <a:t>clientes</a:t>
            </a:r>
            <a:r>
              <a:rPr lang="en-US" sz="1100" b="1" dirty="0">
                <a:solidFill>
                  <a:srgbClr val="065A82"/>
                </a:solidFill>
              </a:rPr>
              <a:t>  </a:t>
            </a:r>
            <a:endParaRPr lang="en-US" sz="1100" dirty="0"/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D16660B3-F482-5461-2BFC-740022DB4BCC}"/>
              </a:ext>
            </a:extLst>
          </p:cNvPr>
          <p:cNvGrpSpPr/>
          <p:nvPr/>
        </p:nvGrpSpPr>
        <p:grpSpPr>
          <a:xfrm>
            <a:off x="0" y="1828800"/>
            <a:ext cx="1850665" cy="1711036"/>
            <a:chOff x="274320" y="1828800"/>
            <a:chExt cx="1920240" cy="1600200"/>
          </a:xfrm>
        </p:grpSpPr>
        <p:sp>
          <p:nvSpPr>
            <p:cNvPr id="8" name="Text 6"/>
            <p:cNvSpPr/>
            <p:nvPr/>
          </p:nvSpPr>
          <p:spPr>
            <a:xfrm>
              <a:off x="274320" y="182880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65A82"/>
                  </a:solidFill>
                </a:rPr>
                <a:t>• </a:t>
              </a:r>
              <a:r>
                <a:rPr lang="en-US" sz="1050" dirty="0">
                  <a:solidFill>
                    <a:srgbClr val="334155"/>
                  </a:solidFill>
                </a:rPr>
                <a:t>Vol med: 889 /</a:t>
              </a:r>
              <a:r>
                <a:rPr lang="en-US" sz="1050" dirty="0" err="1">
                  <a:solidFill>
                    <a:srgbClr val="334155"/>
                  </a:solidFill>
                </a:rPr>
                <a:t>año</a:t>
              </a:r>
              <a:r>
                <a:rPr lang="en-US" sz="1050" dirty="0">
                  <a:solidFill>
                    <a:srgbClr val="334155"/>
                  </a:solidFill>
                </a:rPr>
                <a:t>  (78,7%)</a:t>
              </a:r>
              <a:endParaRPr lang="en-US" sz="10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274320" y="224028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65A82"/>
                  </a:solidFill>
                </a:rPr>
                <a:t>• </a:t>
              </a:r>
              <a:r>
                <a:rPr lang="en-US" sz="1050" dirty="0">
                  <a:solidFill>
                    <a:srgbClr val="334155"/>
                  </a:solidFill>
                </a:rPr>
                <a:t>Perfil: Solo Importación</a:t>
              </a:r>
              <a:endParaRPr lang="en-US" sz="10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74320" y="265176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65A82"/>
                  </a:solidFill>
                </a:rPr>
                <a:t>• </a:t>
              </a:r>
              <a:r>
                <a:rPr lang="en-US" sz="1050" dirty="0">
                  <a:solidFill>
                    <a:srgbClr val="334155"/>
                  </a:solidFill>
                </a:rPr>
                <a:t>Tipo dominante: B</a:t>
              </a:r>
              <a:endParaRPr lang="en-US" sz="10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74320" y="306324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65A82"/>
                  </a:solidFill>
                </a:rPr>
                <a:t>• </a:t>
              </a:r>
              <a:r>
                <a:rPr lang="en-US" sz="1050" dirty="0" err="1">
                  <a:solidFill>
                    <a:srgbClr val="065A82"/>
                  </a:solidFill>
                </a:rPr>
                <a:t>Tendencia</a:t>
              </a:r>
              <a:r>
                <a:rPr lang="en-US" sz="1050" dirty="0">
                  <a:solidFill>
                    <a:srgbClr val="065A82"/>
                  </a:solidFill>
                </a:rPr>
                <a:t>: </a:t>
              </a:r>
              <a:r>
                <a:rPr lang="en-US" sz="1050" dirty="0" err="1">
                  <a:solidFill>
                    <a:srgbClr val="334155"/>
                  </a:solidFill>
                </a:rPr>
                <a:t>Decreciente</a:t>
              </a:r>
              <a:endParaRPr lang="en-US" sz="1050" dirty="0">
                <a:solidFill>
                  <a:srgbClr val="334155"/>
                </a:solidFill>
              </a:endParaRPr>
            </a:p>
            <a:p>
              <a:pPr marL="0" indent="0">
                <a:buNone/>
              </a:pPr>
              <a:endParaRPr lang="en-US" sz="105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1829450" y="932533"/>
            <a:ext cx="1821873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 dirty="0"/>
          </a:p>
        </p:txBody>
      </p:sp>
      <p:sp>
        <p:nvSpPr>
          <p:cNvPr id="13" name="Text 11"/>
          <p:cNvSpPr/>
          <p:nvPr/>
        </p:nvSpPr>
        <p:spPr>
          <a:xfrm>
            <a:off x="1821873" y="97344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C2: </a:t>
            </a:r>
            <a:r>
              <a:rPr lang="en-US" sz="1000" b="1" dirty="0" err="1">
                <a:solidFill>
                  <a:srgbClr val="FFFFFF"/>
                </a:solidFill>
              </a:rPr>
              <a:t>Recuperación</a:t>
            </a:r>
            <a:r>
              <a:rPr lang="en-US" sz="1000" b="1" dirty="0">
                <a:solidFill>
                  <a:srgbClr val="FFFFFF"/>
                </a:solidFill>
              </a:rPr>
              <a:t> AB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1873" y="1407760"/>
            <a:ext cx="1821873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2122516" y="1426464"/>
            <a:ext cx="12482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3 </a:t>
            </a:r>
            <a:r>
              <a:rPr lang="en-US" sz="1100" b="1" dirty="0" err="1">
                <a:solidFill>
                  <a:srgbClr val="02C39A"/>
                </a:solidFill>
              </a:rPr>
              <a:t>clientes</a:t>
            </a:r>
            <a:r>
              <a:rPr lang="en-US" sz="1100" b="1" dirty="0">
                <a:solidFill>
                  <a:srgbClr val="02C39A"/>
                </a:solidFill>
              </a:rPr>
              <a:t> </a:t>
            </a:r>
            <a:endParaRPr lang="en-US" sz="1100" dirty="0"/>
          </a:p>
        </p:txBody>
      </p:sp>
      <p:grpSp>
        <p:nvGrpSpPr>
          <p:cNvPr id="44" name="Grupo 43">
            <a:extLst>
              <a:ext uri="{FF2B5EF4-FFF2-40B4-BE49-F238E27FC236}">
                <a16:creationId xmlns:a16="http://schemas.microsoft.com/office/drawing/2014/main" id="{1DE1D485-D903-869A-6816-0ABD0B369F4B}"/>
              </a:ext>
            </a:extLst>
          </p:cNvPr>
          <p:cNvGrpSpPr/>
          <p:nvPr/>
        </p:nvGrpSpPr>
        <p:grpSpPr>
          <a:xfrm>
            <a:off x="1821873" y="1837780"/>
            <a:ext cx="1920240" cy="1600200"/>
            <a:chOff x="2468880" y="1828800"/>
            <a:chExt cx="1920240" cy="1600200"/>
          </a:xfrm>
        </p:grpSpPr>
        <p:sp>
          <p:nvSpPr>
            <p:cNvPr id="16" name="Text 14"/>
            <p:cNvSpPr/>
            <p:nvPr/>
          </p:nvSpPr>
          <p:spPr>
            <a:xfrm>
              <a:off x="2468880" y="182880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2C39A"/>
                  </a:solidFill>
                </a:rPr>
                <a:t>• </a:t>
              </a:r>
              <a:r>
                <a:rPr lang="en-US" sz="1050" dirty="0">
                  <a:solidFill>
                    <a:srgbClr val="334155"/>
                  </a:solidFill>
                </a:rPr>
                <a:t>Vol med: 585 /</a:t>
              </a:r>
              <a:r>
                <a:rPr lang="en-US" sz="1050" dirty="0" err="1">
                  <a:solidFill>
                    <a:srgbClr val="334155"/>
                  </a:solidFill>
                </a:rPr>
                <a:t>año</a:t>
              </a:r>
              <a:r>
                <a:rPr lang="en-US" sz="1050" dirty="0">
                  <a:solidFill>
                    <a:srgbClr val="334155"/>
                  </a:solidFill>
                </a:rPr>
                <a:t>  (11,1%)</a:t>
              </a:r>
              <a:endParaRPr lang="en-US" sz="10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468880" y="224028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2C39A"/>
                  </a:solidFill>
                </a:rPr>
                <a:t>• </a:t>
              </a:r>
              <a:r>
                <a:rPr lang="en-US" sz="1050" dirty="0">
                  <a:solidFill>
                    <a:srgbClr val="334155"/>
                  </a:solidFill>
                </a:rPr>
                <a:t>Perfil: Mixto (Imp+Exp)</a:t>
              </a:r>
              <a:endParaRPr lang="en-US" sz="10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468880" y="265176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2C39A"/>
                  </a:solidFill>
                </a:rPr>
                <a:t>• </a:t>
              </a:r>
              <a:r>
                <a:rPr lang="en-US" sz="1050" dirty="0">
                  <a:solidFill>
                    <a:srgbClr val="334155"/>
                  </a:solidFill>
                </a:rPr>
                <a:t>Tipo dominante: A</a:t>
              </a:r>
              <a:endParaRPr lang="en-US" sz="10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2468880" y="306324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2C39A"/>
                  </a:solidFill>
                </a:rPr>
                <a:t>• </a:t>
              </a:r>
              <a:r>
                <a:rPr lang="en-US" sz="1050" dirty="0">
                  <a:solidFill>
                    <a:srgbClr val="334155"/>
                  </a:solidFill>
                </a:rPr>
                <a:t>Tendencia: </a:t>
              </a:r>
              <a:r>
                <a:rPr lang="en-US" sz="1050" dirty="0" err="1">
                  <a:solidFill>
                    <a:srgbClr val="334155"/>
                  </a:solidFill>
                </a:rPr>
                <a:t>Creciente</a:t>
              </a:r>
              <a:endParaRPr lang="en-US" sz="1050" dirty="0"/>
            </a:p>
          </p:txBody>
        </p:sp>
      </p:grpSp>
      <p:sp>
        <p:nvSpPr>
          <p:cNvPr id="20" name="Shape 18"/>
          <p:cNvSpPr/>
          <p:nvPr/>
        </p:nvSpPr>
        <p:spPr>
          <a:xfrm>
            <a:off x="3661063" y="934974"/>
            <a:ext cx="1821873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3729817" y="973446"/>
            <a:ext cx="1649427" cy="338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C3: </a:t>
            </a:r>
            <a:r>
              <a:rPr lang="en-US" sz="1000" b="1" dirty="0" err="1">
                <a:solidFill>
                  <a:srgbClr val="FFFFFF"/>
                </a:solidFill>
              </a:rPr>
              <a:t>Activo</a:t>
            </a:r>
            <a:r>
              <a:rPr lang="en-US" sz="1000" b="1" dirty="0">
                <a:solidFill>
                  <a:srgbClr val="FFFFFF"/>
                </a:solidFill>
              </a:rPr>
              <a:t> </a:t>
            </a:r>
            <a:r>
              <a:rPr lang="en-US" sz="1000" b="1" dirty="0" err="1">
                <a:solidFill>
                  <a:srgbClr val="FFFFFF"/>
                </a:solidFill>
              </a:rPr>
              <a:t>Frecuente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49287" y="1405613"/>
            <a:ext cx="1821873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3979026" y="1430620"/>
            <a:ext cx="12192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E46"/>
                </a:solidFill>
              </a:rPr>
              <a:t>30 </a:t>
            </a:r>
            <a:r>
              <a:rPr lang="en-US" sz="1100" b="1" dirty="0" err="1">
                <a:solidFill>
                  <a:srgbClr val="6D2E46"/>
                </a:solidFill>
              </a:rPr>
              <a:t>clientes</a:t>
            </a:r>
            <a:r>
              <a:rPr lang="en-US" sz="1100" b="1" dirty="0">
                <a:solidFill>
                  <a:srgbClr val="6D2E46"/>
                </a:solidFill>
              </a:rPr>
              <a:t> </a:t>
            </a:r>
            <a:endParaRPr lang="en-US" sz="1100" dirty="0"/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6AE8CEA7-F48E-995A-82B5-0F298CE15BB9}"/>
              </a:ext>
            </a:extLst>
          </p:cNvPr>
          <p:cNvGrpSpPr/>
          <p:nvPr/>
        </p:nvGrpSpPr>
        <p:grpSpPr>
          <a:xfrm>
            <a:off x="3742113" y="1817162"/>
            <a:ext cx="1920240" cy="1600200"/>
            <a:chOff x="4663440" y="1828800"/>
            <a:chExt cx="1920240" cy="1600200"/>
          </a:xfrm>
        </p:grpSpPr>
        <p:sp>
          <p:nvSpPr>
            <p:cNvPr id="24" name="Text 22"/>
            <p:cNvSpPr/>
            <p:nvPr/>
          </p:nvSpPr>
          <p:spPr>
            <a:xfrm>
              <a:off x="4663440" y="182880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6D2E46"/>
                  </a:solidFill>
                </a:rPr>
                <a:t>• </a:t>
              </a:r>
              <a:r>
                <a:rPr lang="en-US" sz="1050" dirty="0">
                  <a:solidFill>
                    <a:srgbClr val="334155"/>
                  </a:solidFill>
                </a:rPr>
                <a:t>Vol med: 35/</a:t>
              </a:r>
              <a:r>
                <a:rPr lang="en-US" sz="1050" dirty="0" err="1">
                  <a:solidFill>
                    <a:srgbClr val="334155"/>
                  </a:solidFill>
                </a:rPr>
                <a:t>año</a:t>
              </a:r>
              <a:r>
                <a:rPr lang="en-US" sz="1050" dirty="0">
                  <a:solidFill>
                    <a:srgbClr val="334155"/>
                  </a:solidFill>
                </a:rPr>
                <a:t>  (6,6%)</a:t>
              </a:r>
              <a:endParaRPr lang="en-US" sz="10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663440" y="224028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6D2E46"/>
                  </a:solidFill>
                </a:rPr>
                <a:t>• </a:t>
              </a:r>
              <a:r>
                <a:rPr lang="en-US" sz="1050" dirty="0">
                  <a:solidFill>
                    <a:srgbClr val="334155"/>
                  </a:solidFill>
                </a:rPr>
                <a:t>Perfil: Solo Importación</a:t>
              </a:r>
              <a:endParaRPr lang="en-US" sz="10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4663440" y="265176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6D2E46"/>
                  </a:solidFill>
                </a:rPr>
                <a:t>• </a:t>
              </a:r>
              <a:r>
                <a:rPr lang="en-US" sz="1050" dirty="0">
                  <a:solidFill>
                    <a:srgbClr val="334155"/>
                  </a:solidFill>
                </a:rPr>
                <a:t>Tipo dominante: C</a:t>
              </a:r>
              <a:endParaRPr lang="en-US" sz="10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663440" y="306324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6D2E46"/>
                  </a:solidFill>
                </a:rPr>
                <a:t>• </a:t>
              </a:r>
              <a:r>
                <a:rPr lang="en-US" sz="1050" dirty="0">
                  <a:solidFill>
                    <a:srgbClr val="334155"/>
                  </a:solidFill>
                </a:rPr>
                <a:t>Tendencia: </a:t>
              </a:r>
              <a:r>
                <a:rPr lang="en-US" sz="1050" dirty="0" err="1">
                  <a:solidFill>
                    <a:srgbClr val="334155"/>
                  </a:solidFill>
                </a:rPr>
                <a:t>Decreciente</a:t>
              </a:r>
              <a:endParaRPr lang="en-US" sz="1050" dirty="0"/>
            </a:p>
          </p:txBody>
        </p:sp>
      </p:grpSp>
      <p:sp>
        <p:nvSpPr>
          <p:cNvPr id="28" name="Shape 26"/>
          <p:cNvSpPr/>
          <p:nvPr/>
        </p:nvSpPr>
        <p:spPr>
          <a:xfrm>
            <a:off x="5490513" y="941901"/>
            <a:ext cx="1783080" cy="44992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5482936" y="930610"/>
            <a:ext cx="18316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C4: </a:t>
            </a:r>
            <a:r>
              <a:rPr lang="en-US" sz="1000" b="1" dirty="0" err="1">
                <a:solidFill>
                  <a:srgbClr val="FFFFFF"/>
                </a:solidFill>
              </a:rPr>
              <a:t>Activo</a:t>
            </a:r>
            <a:r>
              <a:rPr lang="en-US" sz="1000" b="1" dirty="0">
                <a:solidFill>
                  <a:srgbClr val="FFFFFF"/>
                </a:solidFill>
              </a:rPr>
              <a:t> </a:t>
            </a:r>
            <a:r>
              <a:rPr lang="en-US" sz="1000" b="1" dirty="0" err="1">
                <a:solidFill>
                  <a:srgbClr val="FFFFFF"/>
                </a:solidFill>
              </a:rPr>
              <a:t>ocasional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64233" y="1405681"/>
            <a:ext cx="178308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Text 29"/>
          <p:cNvSpPr/>
          <p:nvPr/>
        </p:nvSpPr>
        <p:spPr>
          <a:xfrm>
            <a:off x="5353810" y="1446597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5042"/>
                </a:solidFill>
              </a:rPr>
              <a:t>43 </a:t>
            </a:r>
            <a:r>
              <a:rPr lang="en-US" sz="1100" b="1" dirty="0" err="1">
                <a:solidFill>
                  <a:srgbClr val="B85042"/>
                </a:solidFill>
              </a:rPr>
              <a:t>clientes</a:t>
            </a:r>
            <a:endParaRPr lang="en-US" sz="1100" dirty="0"/>
          </a:p>
        </p:txBody>
      </p:sp>
      <p:grpSp>
        <p:nvGrpSpPr>
          <p:cNvPr id="46" name="Grupo 45">
            <a:extLst>
              <a:ext uri="{FF2B5EF4-FFF2-40B4-BE49-F238E27FC236}">
                <a16:creationId xmlns:a16="http://schemas.microsoft.com/office/drawing/2014/main" id="{780CE9F7-AC21-BE11-51EC-0AC6DDEAE02E}"/>
              </a:ext>
            </a:extLst>
          </p:cNvPr>
          <p:cNvGrpSpPr/>
          <p:nvPr/>
        </p:nvGrpSpPr>
        <p:grpSpPr>
          <a:xfrm>
            <a:off x="7306973" y="1821544"/>
            <a:ext cx="1920240" cy="1600200"/>
            <a:chOff x="6858000" y="1828800"/>
            <a:chExt cx="1920240" cy="1600200"/>
          </a:xfrm>
        </p:grpSpPr>
        <p:sp>
          <p:nvSpPr>
            <p:cNvPr id="32" name="Text 30"/>
            <p:cNvSpPr/>
            <p:nvPr/>
          </p:nvSpPr>
          <p:spPr>
            <a:xfrm>
              <a:off x="6858000" y="182880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 b="1" dirty="0">
                  <a:solidFill>
                    <a:srgbClr val="B4C7E7"/>
                  </a:solidFill>
                </a:rPr>
                <a:t>•</a:t>
              </a:r>
              <a:r>
                <a:rPr lang="en-US" sz="1050" b="1" dirty="0">
                  <a:solidFill>
                    <a:srgbClr val="B85042"/>
                  </a:solidFill>
                </a:rPr>
                <a:t> </a:t>
              </a:r>
              <a:r>
                <a:rPr lang="en-US" sz="1050" dirty="0">
                  <a:solidFill>
                    <a:srgbClr val="334155"/>
                  </a:solidFill>
                </a:rPr>
                <a:t>Vol med: 10/</a:t>
              </a:r>
              <a:r>
                <a:rPr lang="en-US" sz="1050" dirty="0" err="1">
                  <a:solidFill>
                    <a:srgbClr val="334155"/>
                  </a:solidFill>
                </a:rPr>
                <a:t>año</a:t>
              </a:r>
              <a:r>
                <a:rPr lang="en-US" sz="1050" dirty="0">
                  <a:solidFill>
                    <a:srgbClr val="334155"/>
                  </a:solidFill>
                </a:rPr>
                <a:t> (2,7%)</a:t>
              </a:r>
              <a:endParaRPr lang="en-US" sz="105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6858000" y="224028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B4C7E7"/>
                  </a:solidFill>
                </a:rPr>
                <a:t>•</a:t>
              </a:r>
              <a:r>
                <a:rPr lang="en-US" sz="1050" b="1" dirty="0">
                  <a:solidFill>
                    <a:srgbClr val="B85042"/>
                  </a:solidFill>
                </a:rPr>
                <a:t> </a:t>
              </a:r>
              <a:r>
                <a:rPr lang="en-US" sz="1050" dirty="0">
                  <a:solidFill>
                    <a:srgbClr val="334155"/>
                  </a:solidFill>
                </a:rPr>
                <a:t>Perfil: Mixto (Imp+Exp)</a:t>
              </a:r>
              <a:endParaRPr lang="en-US" sz="105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6858000" y="265176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B4C7E7"/>
                  </a:solidFill>
                </a:rPr>
                <a:t>•</a:t>
              </a:r>
              <a:r>
                <a:rPr lang="en-US" sz="1050" b="1" dirty="0">
                  <a:solidFill>
                    <a:srgbClr val="B85042"/>
                  </a:solidFill>
                </a:rPr>
                <a:t> </a:t>
              </a:r>
              <a:r>
                <a:rPr lang="en-US" sz="1050" dirty="0">
                  <a:solidFill>
                    <a:srgbClr val="334155"/>
                  </a:solidFill>
                </a:rPr>
                <a:t>Tipo dominante: C</a:t>
              </a:r>
              <a:endParaRPr lang="en-US" sz="105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6858000" y="306324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B4C7E7"/>
                  </a:solidFill>
                </a:rPr>
                <a:t>•</a:t>
              </a:r>
              <a:r>
                <a:rPr lang="en-US" sz="1050" b="1" dirty="0">
                  <a:solidFill>
                    <a:srgbClr val="B85042"/>
                  </a:solidFill>
                </a:rPr>
                <a:t> </a:t>
              </a:r>
              <a:r>
                <a:rPr lang="en-US" sz="1050" dirty="0">
                  <a:solidFill>
                    <a:srgbClr val="334155"/>
                  </a:solidFill>
                </a:rPr>
                <a:t>Tendencia: sin </a:t>
              </a:r>
              <a:r>
                <a:rPr lang="en-US" sz="1050" dirty="0" err="1">
                  <a:solidFill>
                    <a:srgbClr val="334155"/>
                  </a:solidFill>
                </a:rPr>
                <a:t>historial</a:t>
              </a:r>
              <a:endParaRPr lang="en-US" sz="1050" dirty="0"/>
            </a:p>
          </p:txBody>
        </p:sp>
      </p:grpSp>
      <p:sp>
        <p:nvSpPr>
          <p:cNvPr id="36" name="Shape 26">
            <a:extLst>
              <a:ext uri="{FF2B5EF4-FFF2-40B4-BE49-F238E27FC236}">
                <a16:creationId xmlns:a16="http://schemas.microsoft.com/office/drawing/2014/main" id="{F9C74FCD-A317-8AC6-B2A9-035B0C1AE364}"/>
              </a:ext>
            </a:extLst>
          </p:cNvPr>
          <p:cNvSpPr/>
          <p:nvPr/>
        </p:nvSpPr>
        <p:spPr>
          <a:xfrm>
            <a:off x="7247441" y="941901"/>
            <a:ext cx="1888981" cy="4499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E592669F-A253-1ABD-7172-48BF6FCF3493}"/>
              </a:ext>
            </a:extLst>
          </p:cNvPr>
          <p:cNvSpPr txBox="1"/>
          <p:nvPr/>
        </p:nvSpPr>
        <p:spPr>
          <a:xfrm>
            <a:off x="7365490" y="1003789"/>
            <a:ext cx="15984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000" b="1" dirty="0">
                <a:solidFill>
                  <a:schemeClr val="bg1"/>
                </a:solidFill>
              </a:rPr>
              <a:t>C5:Inactivo</a:t>
            </a:r>
          </a:p>
        </p:txBody>
      </p:sp>
      <p:sp>
        <p:nvSpPr>
          <p:cNvPr id="40" name="Shape 28">
            <a:extLst>
              <a:ext uri="{FF2B5EF4-FFF2-40B4-BE49-F238E27FC236}">
                <a16:creationId xmlns:a16="http://schemas.microsoft.com/office/drawing/2014/main" id="{92E01463-2783-8695-895B-7A45BAC6D6DA}"/>
              </a:ext>
            </a:extLst>
          </p:cNvPr>
          <p:cNvSpPr/>
          <p:nvPr/>
        </p:nvSpPr>
        <p:spPr>
          <a:xfrm>
            <a:off x="7257832" y="1384899"/>
            <a:ext cx="1855687" cy="381737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F608195F-6C03-3ABA-570D-72FF6388C549}"/>
              </a:ext>
            </a:extLst>
          </p:cNvPr>
          <p:cNvSpPr txBox="1"/>
          <p:nvPr/>
        </p:nvSpPr>
        <p:spPr>
          <a:xfrm>
            <a:off x="7590208" y="1446597"/>
            <a:ext cx="11880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100" b="1" dirty="0">
                <a:solidFill>
                  <a:srgbClr val="B4C7E7"/>
                </a:solidFill>
              </a:rPr>
              <a:t>45 clientes</a:t>
            </a:r>
          </a:p>
        </p:txBody>
      </p:sp>
      <p:grpSp>
        <p:nvGrpSpPr>
          <p:cNvPr id="47" name="Grupo 46">
            <a:extLst>
              <a:ext uri="{FF2B5EF4-FFF2-40B4-BE49-F238E27FC236}">
                <a16:creationId xmlns:a16="http://schemas.microsoft.com/office/drawing/2014/main" id="{DE9EB3FD-7E4C-C544-B534-E8CA69E92D8D}"/>
              </a:ext>
            </a:extLst>
          </p:cNvPr>
          <p:cNvGrpSpPr/>
          <p:nvPr/>
        </p:nvGrpSpPr>
        <p:grpSpPr>
          <a:xfrm>
            <a:off x="5482936" y="1830550"/>
            <a:ext cx="1920240" cy="1600200"/>
            <a:chOff x="6858000" y="1828800"/>
            <a:chExt cx="1920240" cy="1600200"/>
          </a:xfrm>
        </p:grpSpPr>
        <p:sp>
          <p:nvSpPr>
            <p:cNvPr id="48" name="Text 30">
              <a:extLst>
                <a:ext uri="{FF2B5EF4-FFF2-40B4-BE49-F238E27FC236}">
                  <a16:creationId xmlns:a16="http://schemas.microsoft.com/office/drawing/2014/main" id="{4EF972DC-9093-2FD4-9202-614FC18950FA}"/>
                </a:ext>
              </a:extLst>
            </p:cNvPr>
            <p:cNvSpPr/>
            <p:nvPr/>
          </p:nvSpPr>
          <p:spPr>
            <a:xfrm>
              <a:off x="6858000" y="182880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B85042"/>
                  </a:solidFill>
                </a:rPr>
                <a:t>• </a:t>
              </a:r>
              <a:r>
                <a:rPr lang="en-US" sz="1050" dirty="0">
                  <a:solidFill>
                    <a:srgbClr val="334155"/>
                  </a:solidFill>
                </a:rPr>
                <a:t>Vol med: 3 /</a:t>
              </a:r>
              <a:r>
                <a:rPr lang="en-US" sz="1050" dirty="0" err="1">
                  <a:solidFill>
                    <a:srgbClr val="334155"/>
                  </a:solidFill>
                </a:rPr>
                <a:t>año</a:t>
              </a:r>
              <a:r>
                <a:rPr lang="en-US" sz="1050" dirty="0">
                  <a:solidFill>
                    <a:srgbClr val="334155"/>
                  </a:solidFill>
                </a:rPr>
                <a:t>   (0,9%)</a:t>
              </a:r>
              <a:endParaRPr lang="en-US" sz="1050" dirty="0"/>
            </a:p>
          </p:txBody>
        </p:sp>
        <p:sp>
          <p:nvSpPr>
            <p:cNvPr id="49" name="Text 31">
              <a:extLst>
                <a:ext uri="{FF2B5EF4-FFF2-40B4-BE49-F238E27FC236}">
                  <a16:creationId xmlns:a16="http://schemas.microsoft.com/office/drawing/2014/main" id="{2DAAA156-7E69-A633-FC3D-38164E81AFB8}"/>
                </a:ext>
              </a:extLst>
            </p:cNvPr>
            <p:cNvSpPr/>
            <p:nvPr/>
          </p:nvSpPr>
          <p:spPr>
            <a:xfrm>
              <a:off x="6858000" y="224028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B85042"/>
                  </a:solidFill>
                </a:rPr>
                <a:t>• </a:t>
              </a:r>
              <a:r>
                <a:rPr lang="en-US" sz="1050" dirty="0">
                  <a:solidFill>
                    <a:srgbClr val="334155"/>
                  </a:solidFill>
                </a:rPr>
                <a:t>Perfil: Mixto (Imp+Exp)</a:t>
              </a:r>
              <a:endParaRPr lang="en-US" sz="1050" dirty="0"/>
            </a:p>
          </p:txBody>
        </p:sp>
        <p:sp>
          <p:nvSpPr>
            <p:cNvPr id="50" name="Text 32">
              <a:extLst>
                <a:ext uri="{FF2B5EF4-FFF2-40B4-BE49-F238E27FC236}">
                  <a16:creationId xmlns:a16="http://schemas.microsoft.com/office/drawing/2014/main" id="{50648606-7B2E-12AA-3FA2-3D2535DE4C95}"/>
                </a:ext>
              </a:extLst>
            </p:cNvPr>
            <p:cNvSpPr/>
            <p:nvPr/>
          </p:nvSpPr>
          <p:spPr>
            <a:xfrm>
              <a:off x="6858000" y="265176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B85042"/>
                  </a:solidFill>
                </a:rPr>
                <a:t>• </a:t>
              </a:r>
              <a:r>
                <a:rPr lang="en-US" sz="1050" dirty="0">
                  <a:solidFill>
                    <a:srgbClr val="334155"/>
                  </a:solidFill>
                </a:rPr>
                <a:t>Tipo dominante: C</a:t>
              </a:r>
              <a:endParaRPr lang="en-US" sz="1050" dirty="0"/>
            </a:p>
          </p:txBody>
        </p:sp>
        <p:sp>
          <p:nvSpPr>
            <p:cNvPr id="51" name="Text 33">
              <a:extLst>
                <a:ext uri="{FF2B5EF4-FFF2-40B4-BE49-F238E27FC236}">
                  <a16:creationId xmlns:a16="http://schemas.microsoft.com/office/drawing/2014/main" id="{7D465B4E-46FE-0C73-C598-9F0891E0ABB9}"/>
                </a:ext>
              </a:extLst>
            </p:cNvPr>
            <p:cNvSpPr/>
            <p:nvPr/>
          </p:nvSpPr>
          <p:spPr>
            <a:xfrm>
              <a:off x="6858000" y="306324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B85042"/>
                  </a:solidFill>
                </a:rPr>
                <a:t>• </a:t>
              </a:r>
              <a:r>
                <a:rPr lang="en-US" sz="1050" dirty="0">
                  <a:solidFill>
                    <a:srgbClr val="334155"/>
                  </a:solidFill>
                </a:rPr>
                <a:t>Tendencia: sin </a:t>
              </a:r>
              <a:r>
                <a:rPr lang="en-US" sz="1050" dirty="0" err="1">
                  <a:solidFill>
                    <a:srgbClr val="334155"/>
                  </a:solidFill>
                </a:rPr>
                <a:t>historial</a:t>
              </a:r>
              <a:endParaRPr lang="en-US" sz="1050" dirty="0"/>
            </a:p>
          </p:txBody>
        </p:sp>
      </p:grpSp>
      <p:sp>
        <p:nvSpPr>
          <p:cNvPr id="52" name="Text 9">
            <a:extLst>
              <a:ext uri="{FF2B5EF4-FFF2-40B4-BE49-F238E27FC236}">
                <a16:creationId xmlns:a16="http://schemas.microsoft.com/office/drawing/2014/main" id="{6673DD16-5313-1BE6-91C4-B5D2BBE8FF32}"/>
              </a:ext>
            </a:extLst>
          </p:cNvPr>
          <p:cNvSpPr/>
          <p:nvPr/>
        </p:nvSpPr>
        <p:spPr>
          <a:xfrm>
            <a:off x="7577" y="3483700"/>
            <a:ext cx="18218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• </a:t>
            </a:r>
            <a:r>
              <a:rPr lang="en-US" sz="1050" dirty="0" err="1">
                <a:solidFill>
                  <a:srgbClr val="065A82"/>
                </a:solidFill>
              </a:rPr>
              <a:t>Puertos</a:t>
            </a:r>
            <a:r>
              <a:rPr lang="en-US" sz="1050" dirty="0">
                <a:solidFill>
                  <a:srgbClr val="065A82"/>
                </a:solidFill>
              </a:rPr>
              <a:t>: </a:t>
            </a:r>
            <a:r>
              <a:rPr lang="en-US" sz="1050" dirty="0">
                <a:solidFill>
                  <a:srgbClr val="334155"/>
                </a:solidFill>
              </a:rPr>
              <a:t>7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A475ACCF-25E0-0426-2C08-8FF6A39C8D4F}"/>
              </a:ext>
            </a:extLst>
          </p:cNvPr>
          <p:cNvSpPr/>
          <p:nvPr/>
        </p:nvSpPr>
        <p:spPr>
          <a:xfrm>
            <a:off x="1829450" y="34075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</a:rPr>
              <a:t>• </a:t>
            </a:r>
            <a:r>
              <a:rPr lang="en-US" sz="1050" dirty="0" err="1">
                <a:solidFill>
                  <a:srgbClr val="334155"/>
                </a:solidFill>
              </a:rPr>
              <a:t>Puertos</a:t>
            </a:r>
            <a:r>
              <a:rPr lang="en-US" sz="1050" dirty="0">
                <a:solidFill>
                  <a:srgbClr val="334155"/>
                </a:solidFill>
              </a:rPr>
              <a:t>: 4</a:t>
            </a:r>
            <a:endParaRPr lang="en-US" sz="1050" dirty="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39E7817C-26A2-C3A3-B1AE-AD7F1378A507}"/>
              </a:ext>
            </a:extLst>
          </p:cNvPr>
          <p:cNvSpPr/>
          <p:nvPr/>
        </p:nvSpPr>
        <p:spPr>
          <a:xfrm>
            <a:off x="3742113" y="3404175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</a:rPr>
              <a:t>• </a:t>
            </a:r>
            <a:r>
              <a:rPr lang="en-US" sz="1050" dirty="0" err="1">
                <a:solidFill>
                  <a:srgbClr val="334155"/>
                </a:solidFill>
              </a:rPr>
              <a:t>Puertos</a:t>
            </a:r>
            <a:r>
              <a:rPr lang="en-US" sz="1050" dirty="0">
                <a:solidFill>
                  <a:srgbClr val="334155"/>
                </a:solidFill>
              </a:rPr>
              <a:t>: 3</a:t>
            </a:r>
            <a:endParaRPr lang="en-US" sz="1050" dirty="0"/>
          </a:p>
        </p:txBody>
      </p:sp>
      <p:sp>
        <p:nvSpPr>
          <p:cNvPr id="55" name="Text 33">
            <a:extLst>
              <a:ext uri="{FF2B5EF4-FFF2-40B4-BE49-F238E27FC236}">
                <a16:creationId xmlns:a16="http://schemas.microsoft.com/office/drawing/2014/main" id="{BFFDA116-C207-12AF-AF98-F6C2E3E49751}"/>
              </a:ext>
            </a:extLst>
          </p:cNvPr>
          <p:cNvSpPr/>
          <p:nvPr/>
        </p:nvSpPr>
        <p:spPr>
          <a:xfrm>
            <a:off x="5498826" y="34042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5042"/>
                </a:solidFill>
              </a:rPr>
              <a:t>• </a:t>
            </a:r>
            <a:r>
              <a:rPr lang="en-US" sz="1050" dirty="0" err="1">
                <a:solidFill>
                  <a:srgbClr val="334155"/>
                </a:solidFill>
              </a:rPr>
              <a:t>Puertos</a:t>
            </a:r>
            <a:r>
              <a:rPr lang="en-US" sz="1050" dirty="0">
                <a:solidFill>
                  <a:srgbClr val="334155"/>
                </a:solidFill>
              </a:rPr>
              <a:t>: 1</a:t>
            </a:r>
            <a:endParaRPr lang="en-US" sz="1050" dirty="0"/>
          </a:p>
        </p:txBody>
      </p:sp>
      <p:sp>
        <p:nvSpPr>
          <p:cNvPr id="56" name="Text 33">
            <a:extLst>
              <a:ext uri="{FF2B5EF4-FFF2-40B4-BE49-F238E27FC236}">
                <a16:creationId xmlns:a16="http://schemas.microsoft.com/office/drawing/2014/main" id="{A701A2F1-D6A2-2C16-2395-0A5235251428}"/>
              </a:ext>
            </a:extLst>
          </p:cNvPr>
          <p:cNvSpPr/>
          <p:nvPr/>
        </p:nvSpPr>
        <p:spPr>
          <a:xfrm>
            <a:off x="7314550" y="34459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C7E7"/>
                </a:solidFill>
              </a:rPr>
              <a:t>•</a:t>
            </a:r>
            <a:r>
              <a:rPr lang="en-US" sz="1050" b="1" dirty="0">
                <a:solidFill>
                  <a:srgbClr val="B85042"/>
                </a:solidFill>
              </a:rPr>
              <a:t> </a:t>
            </a:r>
            <a:r>
              <a:rPr lang="en-US" sz="1050" dirty="0" err="1">
                <a:solidFill>
                  <a:srgbClr val="334155"/>
                </a:solidFill>
              </a:rPr>
              <a:t>Puertos</a:t>
            </a:r>
            <a:r>
              <a:rPr lang="en-US" sz="1050" dirty="0">
                <a:solidFill>
                  <a:srgbClr val="334155"/>
                </a:solidFill>
              </a:rPr>
              <a:t>: 1</a:t>
            </a:r>
            <a:endParaRPr lang="en-US" sz="1050" dirty="0"/>
          </a:p>
        </p:txBody>
      </p:sp>
      <p:sp>
        <p:nvSpPr>
          <p:cNvPr id="57" name="Text 9">
            <a:extLst>
              <a:ext uri="{FF2B5EF4-FFF2-40B4-BE49-F238E27FC236}">
                <a16:creationId xmlns:a16="http://schemas.microsoft.com/office/drawing/2014/main" id="{905FE884-C72D-2E0B-8D99-C7C1841EA5B8}"/>
              </a:ext>
            </a:extLst>
          </p:cNvPr>
          <p:cNvSpPr/>
          <p:nvPr/>
        </p:nvSpPr>
        <p:spPr>
          <a:xfrm>
            <a:off x="0" y="3868212"/>
            <a:ext cx="18218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• </a:t>
            </a:r>
            <a:r>
              <a:rPr lang="en-US" sz="1050" dirty="0">
                <a:solidFill>
                  <a:srgbClr val="065A82"/>
                </a:solidFill>
              </a:rPr>
              <a:t>Mes </a:t>
            </a:r>
            <a:r>
              <a:rPr lang="en-US" sz="1050" dirty="0" err="1">
                <a:solidFill>
                  <a:srgbClr val="065A82"/>
                </a:solidFill>
              </a:rPr>
              <a:t>pico</a:t>
            </a:r>
            <a:r>
              <a:rPr lang="en-US" sz="1050" dirty="0">
                <a:solidFill>
                  <a:srgbClr val="065A82"/>
                </a:solidFill>
              </a:rPr>
              <a:t>: </a:t>
            </a:r>
            <a:r>
              <a:rPr lang="en-US" sz="1050" dirty="0" err="1">
                <a:solidFill>
                  <a:srgbClr val="065A82"/>
                </a:solidFill>
              </a:rPr>
              <a:t>en,feb,mar</a:t>
            </a:r>
            <a:endParaRPr lang="en-US" sz="1050" dirty="0">
              <a:solidFill>
                <a:srgbClr val="334155"/>
              </a:solidFill>
            </a:endParaRP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F2D574BE-8EB0-A738-DF5C-B4A3FBADD8FF}"/>
              </a:ext>
            </a:extLst>
          </p:cNvPr>
          <p:cNvSpPr/>
          <p:nvPr/>
        </p:nvSpPr>
        <p:spPr>
          <a:xfrm>
            <a:off x="1837027" y="380429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</a:rPr>
              <a:t>• </a:t>
            </a:r>
            <a:r>
              <a:rPr lang="en-US" sz="1050" dirty="0">
                <a:solidFill>
                  <a:srgbClr val="334155"/>
                </a:solidFill>
              </a:rPr>
              <a:t>Mes </a:t>
            </a:r>
            <a:r>
              <a:rPr lang="en-US" sz="1050" dirty="0" err="1">
                <a:solidFill>
                  <a:srgbClr val="334155"/>
                </a:solidFill>
              </a:rPr>
              <a:t>pico</a:t>
            </a:r>
            <a:r>
              <a:rPr lang="en-US" sz="1050" dirty="0">
                <a:solidFill>
                  <a:srgbClr val="334155"/>
                </a:solidFill>
              </a:rPr>
              <a:t>: </a:t>
            </a:r>
            <a:r>
              <a:rPr lang="en-US" sz="1050" dirty="0" err="1">
                <a:solidFill>
                  <a:srgbClr val="334155"/>
                </a:solidFill>
              </a:rPr>
              <a:t>ene</a:t>
            </a:r>
            <a:r>
              <a:rPr lang="en-US" sz="1050" dirty="0">
                <a:solidFill>
                  <a:srgbClr val="334155"/>
                </a:solidFill>
              </a:rPr>
              <a:t>, oct</a:t>
            </a:r>
            <a:endParaRPr lang="en-US" sz="1050" dirty="0"/>
          </a:p>
        </p:txBody>
      </p:sp>
      <p:sp>
        <p:nvSpPr>
          <p:cNvPr id="60" name="Text 25">
            <a:extLst>
              <a:ext uri="{FF2B5EF4-FFF2-40B4-BE49-F238E27FC236}">
                <a16:creationId xmlns:a16="http://schemas.microsoft.com/office/drawing/2014/main" id="{7158AB53-0F51-E13F-834F-988C0AEE0FCA}"/>
              </a:ext>
            </a:extLst>
          </p:cNvPr>
          <p:cNvSpPr/>
          <p:nvPr/>
        </p:nvSpPr>
        <p:spPr>
          <a:xfrm>
            <a:off x="3749690" y="378348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</a:rPr>
              <a:t>• </a:t>
            </a:r>
            <a:r>
              <a:rPr lang="en-US" sz="1050" dirty="0" err="1">
                <a:solidFill>
                  <a:srgbClr val="334155"/>
                </a:solidFill>
              </a:rPr>
              <a:t>mes</a:t>
            </a:r>
            <a:r>
              <a:rPr lang="en-US" sz="1050" dirty="0">
                <a:solidFill>
                  <a:srgbClr val="334155"/>
                </a:solidFill>
              </a:rPr>
              <a:t> </a:t>
            </a:r>
            <a:r>
              <a:rPr lang="en-US" sz="1050" dirty="0" err="1">
                <a:solidFill>
                  <a:srgbClr val="334155"/>
                </a:solidFill>
              </a:rPr>
              <a:t>pico</a:t>
            </a:r>
            <a:r>
              <a:rPr lang="en-US" sz="1050" dirty="0">
                <a:solidFill>
                  <a:srgbClr val="334155"/>
                </a:solidFill>
              </a:rPr>
              <a:t>: </a:t>
            </a:r>
            <a:r>
              <a:rPr lang="en-US" sz="1050" dirty="0" err="1">
                <a:solidFill>
                  <a:srgbClr val="334155"/>
                </a:solidFill>
              </a:rPr>
              <a:t>ene</a:t>
            </a:r>
            <a:r>
              <a:rPr lang="en-US" sz="1050" dirty="0">
                <a:solidFill>
                  <a:srgbClr val="334155"/>
                </a:solidFill>
              </a:rPr>
              <a:t>, mar</a:t>
            </a:r>
            <a:endParaRPr lang="en-US" sz="1050" dirty="0"/>
          </a:p>
        </p:txBody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553F05C8-E5D0-5B77-9ED1-BC27F5B7DDC4}"/>
              </a:ext>
            </a:extLst>
          </p:cNvPr>
          <p:cNvSpPr/>
          <p:nvPr/>
        </p:nvSpPr>
        <p:spPr>
          <a:xfrm>
            <a:off x="5490513" y="37867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5042"/>
                </a:solidFill>
              </a:rPr>
              <a:t>• </a:t>
            </a:r>
            <a:r>
              <a:rPr lang="en-US" sz="1050" dirty="0" err="1">
                <a:solidFill>
                  <a:srgbClr val="334155"/>
                </a:solidFill>
              </a:rPr>
              <a:t>mes</a:t>
            </a:r>
            <a:r>
              <a:rPr lang="en-US" sz="1050" dirty="0">
                <a:solidFill>
                  <a:srgbClr val="334155"/>
                </a:solidFill>
              </a:rPr>
              <a:t> </a:t>
            </a:r>
            <a:r>
              <a:rPr lang="en-US" sz="1050" dirty="0" err="1">
                <a:solidFill>
                  <a:srgbClr val="334155"/>
                </a:solidFill>
              </a:rPr>
              <a:t>pico</a:t>
            </a:r>
            <a:r>
              <a:rPr lang="en-US" sz="1050" dirty="0">
                <a:solidFill>
                  <a:srgbClr val="334155"/>
                </a:solidFill>
              </a:rPr>
              <a:t>: mar</a:t>
            </a:r>
            <a:endParaRPr lang="en-US" sz="1050" dirty="0"/>
          </a:p>
        </p:txBody>
      </p:sp>
      <p:sp>
        <p:nvSpPr>
          <p:cNvPr id="62" name="Text 33">
            <a:extLst>
              <a:ext uri="{FF2B5EF4-FFF2-40B4-BE49-F238E27FC236}">
                <a16:creationId xmlns:a16="http://schemas.microsoft.com/office/drawing/2014/main" id="{CEBFB0AC-C2C8-7B6E-17C0-5ED8A7D40DFB}"/>
              </a:ext>
            </a:extLst>
          </p:cNvPr>
          <p:cNvSpPr/>
          <p:nvPr/>
        </p:nvSpPr>
        <p:spPr>
          <a:xfrm>
            <a:off x="7314550" y="3839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C7E7"/>
                </a:solidFill>
              </a:rPr>
              <a:t>•</a:t>
            </a:r>
            <a:r>
              <a:rPr lang="en-US" sz="1050" b="1" dirty="0">
                <a:solidFill>
                  <a:srgbClr val="B85042"/>
                </a:solidFill>
              </a:rPr>
              <a:t> </a:t>
            </a:r>
            <a:r>
              <a:rPr lang="en-US" sz="1050" dirty="0" err="1">
                <a:solidFill>
                  <a:srgbClr val="334155"/>
                </a:solidFill>
              </a:rPr>
              <a:t>mes</a:t>
            </a:r>
            <a:r>
              <a:rPr lang="en-US" sz="1050" dirty="0">
                <a:solidFill>
                  <a:srgbClr val="334155"/>
                </a:solidFill>
              </a:rPr>
              <a:t> </a:t>
            </a:r>
            <a:r>
              <a:rPr lang="en-US" sz="1050" dirty="0" err="1">
                <a:solidFill>
                  <a:srgbClr val="334155"/>
                </a:solidFill>
              </a:rPr>
              <a:t>pico</a:t>
            </a:r>
            <a:r>
              <a:rPr lang="en-US" sz="1050" dirty="0">
                <a:solidFill>
                  <a:srgbClr val="334155"/>
                </a:solidFill>
              </a:rPr>
              <a:t>: may, </a:t>
            </a:r>
            <a:r>
              <a:rPr lang="en-US" sz="1050" dirty="0" err="1">
                <a:solidFill>
                  <a:srgbClr val="334155"/>
                </a:solidFill>
              </a:rPr>
              <a:t>jul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057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Estratégico por Segmento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274320" y="720090"/>
            <a:ext cx="1508760" cy="288036"/>
          </a:xfrm>
          <a:prstGeom prst="rect">
            <a:avLst/>
          </a:prstGeom>
          <a:solidFill>
            <a:srgbClr val="3972F0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4" name="Text 2"/>
          <p:cNvSpPr/>
          <p:nvPr/>
        </p:nvSpPr>
        <p:spPr>
          <a:xfrm>
            <a:off x="308610" y="720090"/>
            <a:ext cx="15087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783080" y="720090"/>
            <a:ext cx="754380" cy="288036"/>
          </a:xfrm>
          <a:prstGeom prst="rect">
            <a:avLst/>
          </a:prstGeom>
          <a:solidFill>
            <a:srgbClr val="3972F0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6" name="Text 4"/>
          <p:cNvSpPr/>
          <p:nvPr/>
        </p:nvSpPr>
        <p:spPr>
          <a:xfrm>
            <a:off x="1817370" y="720090"/>
            <a:ext cx="7543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441448" y="720090"/>
            <a:ext cx="2112264" cy="288036"/>
          </a:xfrm>
          <a:prstGeom prst="rect">
            <a:avLst/>
          </a:prstGeom>
          <a:solidFill>
            <a:srgbClr val="3972F0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8" name="Text 6"/>
          <p:cNvSpPr/>
          <p:nvPr/>
        </p:nvSpPr>
        <p:spPr>
          <a:xfrm>
            <a:off x="2571750" y="720090"/>
            <a:ext cx="19202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Principal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457700" y="720090"/>
            <a:ext cx="2125980" cy="288036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10" name="Text 8"/>
          <p:cNvSpPr/>
          <p:nvPr/>
        </p:nvSpPr>
        <p:spPr>
          <a:xfrm>
            <a:off x="4471416" y="720090"/>
            <a:ext cx="2146554" cy="288036"/>
          </a:xfrm>
          <a:prstGeom prst="rect">
            <a:avLst/>
          </a:prstGeom>
          <a:solidFill>
            <a:srgbClr val="3972F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Clave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583680" y="720090"/>
            <a:ext cx="2125980" cy="288036"/>
          </a:xfrm>
          <a:prstGeom prst="rect">
            <a:avLst/>
          </a:prstGeom>
          <a:solidFill>
            <a:srgbClr val="3972F0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12" name="Text 10"/>
          <p:cNvSpPr/>
          <p:nvPr/>
        </p:nvSpPr>
        <p:spPr>
          <a:xfrm>
            <a:off x="6617970" y="720090"/>
            <a:ext cx="21259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 Éxito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4320" y="1008126"/>
            <a:ext cx="1508760" cy="651510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14" name="Shape 12"/>
          <p:cNvSpPr/>
          <p:nvPr/>
        </p:nvSpPr>
        <p:spPr>
          <a:xfrm>
            <a:off x="274320" y="1008126"/>
            <a:ext cx="41148" cy="65151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15" name="Text 13"/>
          <p:cNvSpPr/>
          <p:nvPr/>
        </p:nvSpPr>
        <p:spPr>
          <a:xfrm>
            <a:off x="356616" y="1008126"/>
            <a:ext cx="140589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Crítico Activo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783080" y="1008126"/>
            <a:ext cx="754380" cy="65151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17" name="Text 15"/>
          <p:cNvSpPr/>
          <p:nvPr/>
        </p:nvSpPr>
        <p:spPr>
          <a:xfrm>
            <a:off x="1783080" y="1008126"/>
            <a:ext cx="7543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</a:t>
            </a:r>
            <a:endParaRPr lang="en-US" sz="638" dirty="0"/>
          </a:p>
        </p:txBody>
      </p:sp>
      <p:sp>
        <p:nvSpPr>
          <p:cNvPr id="18" name="Shape 16"/>
          <p:cNvSpPr/>
          <p:nvPr/>
        </p:nvSpPr>
        <p:spPr>
          <a:xfrm>
            <a:off x="2537460" y="1008126"/>
            <a:ext cx="1920240" cy="65151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19" name="Text 17"/>
          <p:cNvSpPr/>
          <p:nvPr/>
        </p:nvSpPr>
        <p:spPr>
          <a:xfrm>
            <a:off x="2592324" y="1008126"/>
            <a:ext cx="185166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Retener y expandir relación</a:t>
            </a:r>
            <a:endParaRPr lang="en-US" sz="675" dirty="0"/>
          </a:p>
        </p:txBody>
      </p:sp>
      <p:sp>
        <p:nvSpPr>
          <p:cNvPr id="20" name="Shape 18"/>
          <p:cNvSpPr/>
          <p:nvPr/>
        </p:nvSpPr>
        <p:spPr>
          <a:xfrm>
            <a:off x="4457700" y="1008126"/>
            <a:ext cx="2125980" cy="65151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21" name="Text 19"/>
          <p:cNvSpPr/>
          <p:nvPr/>
        </p:nvSpPr>
        <p:spPr>
          <a:xfrm>
            <a:off x="4512564" y="1008126"/>
            <a:ext cx="205740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dedicado + contrato marco anual + SLA diferenciado</a:t>
            </a:r>
            <a:endParaRPr lang="en-US" sz="675" dirty="0"/>
          </a:p>
        </p:txBody>
      </p:sp>
      <p:sp>
        <p:nvSpPr>
          <p:cNvPr id="22" name="Shape 20"/>
          <p:cNvSpPr/>
          <p:nvPr/>
        </p:nvSpPr>
        <p:spPr>
          <a:xfrm>
            <a:off x="6583680" y="1008126"/>
            <a:ext cx="2125980" cy="65151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23" name="Text 21"/>
          <p:cNvSpPr/>
          <p:nvPr/>
        </p:nvSpPr>
        <p:spPr>
          <a:xfrm>
            <a:off x="6638544" y="1008126"/>
            <a:ext cx="205740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mensual ≥ media histórica</a:t>
            </a:r>
            <a:endParaRPr lang="en-US" sz="675" dirty="0"/>
          </a:p>
        </p:txBody>
      </p:sp>
      <p:sp>
        <p:nvSpPr>
          <p:cNvPr id="24" name="Shape 22"/>
          <p:cNvSpPr/>
          <p:nvPr/>
        </p:nvSpPr>
        <p:spPr>
          <a:xfrm>
            <a:off x="274320" y="1693926"/>
            <a:ext cx="1508760" cy="651510"/>
          </a:xfrm>
          <a:prstGeom prst="rect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25" name="Shape 23"/>
          <p:cNvSpPr/>
          <p:nvPr/>
        </p:nvSpPr>
        <p:spPr>
          <a:xfrm>
            <a:off x="274320" y="1693926"/>
            <a:ext cx="41148" cy="65151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26" name="Text 24"/>
          <p:cNvSpPr/>
          <p:nvPr/>
        </p:nvSpPr>
        <p:spPr>
          <a:xfrm>
            <a:off x="356616" y="1693926"/>
            <a:ext cx="140589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Recuperación AB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783080" y="1693926"/>
            <a:ext cx="754380" cy="651510"/>
          </a:xfrm>
          <a:prstGeom prst="rect">
            <a:avLst/>
          </a:prstGeom>
          <a:solidFill>
            <a:srgbClr val="EBF2F7"/>
          </a:solidFill>
          <a:ln w="635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28" name="Text 26"/>
          <p:cNvSpPr/>
          <p:nvPr/>
        </p:nvSpPr>
        <p:spPr>
          <a:xfrm>
            <a:off x="1783080" y="1693926"/>
            <a:ext cx="7543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638" dirty="0"/>
          </a:p>
        </p:txBody>
      </p:sp>
      <p:sp>
        <p:nvSpPr>
          <p:cNvPr id="29" name="Shape 27"/>
          <p:cNvSpPr/>
          <p:nvPr/>
        </p:nvSpPr>
        <p:spPr>
          <a:xfrm>
            <a:off x="2537460" y="1693926"/>
            <a:ext cx="1920240" cy="651510"/>
          </a:xfrm>
          <a:prstGeom prst="rect">
            <a:avLst/>
          </a:prstGeom>
          <a:solidFill>
            <a:srgbClr val="EBF2F7"/>
          </a:solidFill>
          <a:ln w="635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30" name="Text 28"/>
          <p:cNvSpPr/>
          <p:nvPr/>
        </p:nvSpPr>
        <p:spPr>
          <a:xfrm>
            <a:off x="2592324" y="1693926"/>
            <a:ext cx="185166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Reactivar antes del churn definitivo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>
            <a:off x="4457700" y="1693926"/>
            <a:ext cx="2125980" cy="651510"/>
          </a:xfrm>
          <a:prstGeom prst="rect">
            <a:avLst/>
          </a:prstGeom>
          <a:solidFill>
            <a:srgbClr val="EBF2F7"/>
          </a:solidFill>
          <a:ln w="635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32" name="Text 30"/>
          <p:cNvSpPr/>
          <p:nvPr/>
        </p:nvSpPr>
        <p:spPr>
          <a:xfrm>
            <a:off x="4512564" y="1693926"/>
            <a:ext cx="205740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+ propuesta win-back + plan 90 días</a:t>
            </a:r>
            <a:endParaRPr lang="en-US" sz="675" dirty="0"/>
          </a:p>
        </p:txBody>
      </p:sp>
      <p:sp>
        <p:nvSpPr>
          <p:cNvPr id="33" name="Shape 31"/>
          <p:cNvSpPr/>
          <p:nvPr/>
        </p:nvSpPr>
        <p:spPr>
          <a:xfrm>
            <a:off x="6583680" y="1693926"/>
            <a:ext cx="2125980" cy="651510"/>
          </a:xfrm>
          <a:prstGeom prst="rect">
            <a:avLst/>
          </a:prstGeom>
          <a:solidFill>
            <a:srgbClr val="EBF2F7"/>
          </a:solidFill>
          <a:ln w="635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34" name="Text 32"/>
          <p:cNvSpPr/>
          <p:nvPr/>
        </p:nvSpPr>
        <p:spPr>
          <a:xfrm>
            <a:off x="6638544" y="1693926"/>
            <a:ext cx="205740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≥70% del vol. pre-caída en 3 meses</a:t>
            </a:r>
            <a:endParaRPr lang="en-US" sz="675" dirty="0"/>
          </a:p>
        </p:txBody>
      </p:sp>
      <p:sp>
        <p:nvSpPr>
          <p:cNvPr id="35" name="Shape 33"/>
          <p:cNvSpPr/>
          <p:nvPr/>
        </p:nvSpPr>
        <p:spPr>
          <a:xfrm>
            <a:off x="274320" y="2379726"/>
            <a:ext cx="1508760" cy="651510"/>
          </a:xfrm>
          <a:prstGeom prst="rect">
            <a:avLst/>
          </a:prstGeom>
          <a:solidFill>
            <a:srgbClr val="1A6E37">
              <a:alpha val="15000"/>
            </a:srgbClr>
          </a:solidFill>
          <a:ln w="12700">
            <a:solidFill>
              <a:srgbClr val="1A6E37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36" name="Shape 34"/>
          <p:cNvSpPr/>
          <p:nvPr/>
        </p:nvSpPr>
        <p:spPr>
          <a:xfrm>
            <a:off x="274320" y="2379726"/>
            <a:ext cx="41148" cy="651510"/>
          </a:xfrm>
          <a:prstGeom prst="rect">
            <a:avLst/>
          </a:prstGeom>
          <a:solidFill>
            <a:srgbClr val="1A6E37"/>
          </a:solidFill>
          <a:ln w="12700">
            <a:solidFill>
              <a:srgbClr val="1A6E37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37" name="Text 35"/>
          <p:cNvSpPr/>
          <p:nvPr/>
        </p:nvSpPr>
        <p:spPr>
          <a:xfrm>
            <a:off x="356616" y="2379726"/>
            <a:ext cx="140589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1A6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C Activo Frecuente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783080" y="2379726"/>
            <a:ext cx="754380" cy="65151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39" name="Text 37"/>
          <p:cNvSpPr/>
          <p:nvPr/>
        </p:nvSpPr>
        <p:spPr>
          <a:xfrm>
            <a:off x="1783080" y="2379726"/>
            <a:ext cx="7543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1A6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MEDIA-ALTA</a:t>
            </a:r>
            <a:endParaRPr lang="en-US" sz="638" dirty="0"/>
          </a:p>
        </p:txBody>
      </p:sp>
      <p:sp>
        <p:nvSpPr>
          <p:cNvPr id="40" name="Shape 38"/>
          <p:cNvSpPr/>
          <p:nvPr/>
        </p:nvSpPr>
        <p:spPr>
          <a:xfrm>
            <a:off x="2537460" y="2379726"/>
            <a:ext cx="1920240" cy="65151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41" name="Text 39"/>
          <p:cNvSpPr/>
          <p:nvPr/>
        </p:nvSpPr>
        <p:spPr>
          <a:xfrm>
            <a:off x="2592324" y="2379726"/>
            <a:ext cx="185166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a Tipo B y fidelización</a:t>
            </a:r>
            <a:endParaRPr lang="en-US" sz="675" dirty="0"/>
          </a:p>
        </p:txBody>
      </p:sp>
      <p:sp>
        <p:nvSpPr>
          <p:cNvPr id="42" name="Shape 40"/>
          <p:cNvSpPr/>
          <p:nvPr/>
        </p:nvSpPr>
        <p:spPr>
          <a:xfrm>
            <a:off x="4457700" y="2379726"/>
            <a:ext cx="2125980" cy="65151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43" name="Text 41"/>
          <p:cNvSpPr/>
          <p:nvPr/>
        </p:nvSpPr>
        <p:spPr>
          <a:xfrm>
            <a:off x="4512564" y="2379726"/>
            <a:ext cx="205740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puntos + cross-selling + metas trimestrales</a:t>
            </a:r>
            <a:endParaRPr lang="en-US" sz="675" dirty="0"/>
          </a:p>
        </p:txBody>
      </p:sp>
      <p:sp>
        <p:nvSpPr>
          <p:cNvPr id="44" name="Shape 42"/>
          <p:cNvSpPr/>
          <p:nvPr/>
        </p:nvSpPr>
        <p:spPr>
          <a:xfrm>
            <a:off x="6583680" y="2379726"/>
            <a:ext cx="2125980" cy="65151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45" name="Text 43"/>
          <p:cNvSpPr/>
          <p:nvPr/>
        </p:nvSpPr>
        <p:spPr>
          <a:xfrm>
            <a:off x="6638544" y="2379726"/>
            <a:ext cx="205740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vol. 20% anual + upgrade clasificación</a:t>
            </a:r>
            <a:endParaRPr lang="en-US" sz="675" dirty="0"/>
          </a:p>
        </p:txBody>
      </p:sp>
      <p:sp>
        <p:nvSpPr>
          <p:cNvPr id="46" name="Shape 44"/>
          <p:cNvSpPr/>
          <p:nvPr/>
        </p:nvSpPr>
        <p:spPr>
          <a:xfrm>
            <a:off x="274320" y="3065526"/>
            <a:ext cx="1508760" cy="651510"/>
          </a:xfrm>
          <a:prstGeom prst="rect">
            <a:avLst/>
          </a:prstGeom>
          <a:solidFill>
            <a:srgbClr val="58B368">
              <a:alpha val="15000"/>
            </a:srgbClr>
          </a:solidFill>
          <a:ln w="12700">
            <a:solidFill>
              <a:srgbClr val="58B368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47" name="Shape 45"/>
          <p:cNvSpPr/>
          <p:nvPr/>
        </p:nvSpPr>
        <p:spPr>
          <a:xfrm>
            <a:off x="274320" y="3065526"/>
            <a:ext cx="41148" cy="651510"/>
          </a:xfrm>
          <a:prstGeom prst="rect">
            <a:avLst/>
          </a:prstGeom>
          <a:solidFill>
            <a:srgbClr val="58B368"/>
          </a:solidFill>
          <a:ln w="12700">
            <a:solidFill>
              <a:srgbClr val="58B368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48" name="Text 46"/>
          <p:cNvSpPr/>
          <p:nvPr/>
        </p:nvSpPr>
        <p:spPr>
          <a:xfrm>
            <a:off x="356616" y="3065526"/>
            <a:ext cx="140589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58B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C Activo Ocasional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783080" y="3065526"/>
            <a:ext cx="754380" cy="651510"/>
          </a:xfrm>
          <a:prstGeom prst="rect">
            <a:avLst/>
          </a:prstGeom>
          <a:solidFill>
            <a:srgbClr val="EBF2F7"/>
          </a:solidFill>
          <a:ln w="635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50" name="Text 48"/>
          <p:cNvSpPr/>
          <p:nvPr/>
        </p:nvSpPr>
        <p:spPr>
          <a:xfrm>
            <a:off x="1783080" y="3065526"/>
            <a:ext cx="7543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58B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638" dirty="0"/>
          </a:p>
        </p:txBody>
      </p:sp>
      <p:sp>
        <p:nvSpPr>
          <p:cNvPr id="51" name="Shape 49"/>
          <p:cNvSpPr/>
          <p:nvPr/>
        </p:nvSpPr>
        <p:spPr>
          <a:xfrm>
            <a:off x="2537460" y="3065526"/>
            <a:ext cx="1920240" cy="651510"/>
          </a:xfrm>
          <a:prstGeom prst="rect">
            <a:avLst/>
          </a:prstGeom>
          <a:solidFill>
            <a:srgbClr val="EBF2F7"/>
          </a:solidFill>
          <a:ln w="635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52" name="Text 50"/>
          <p:cNvSpPr/>
          <p:nvPr/>
        </p:nvSpPr>
        <p:spPr>
          <a:xfrm>
            <a:off x="2592324" y="3065526"/>
            <a:ext cx="185166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en cliente recurrente</a:t>
            </a:r>
            <a:endParaRPr lang="en-US" sz="675" dirty="0"/>
          </a:p>
        </p:txBody>
      </p:sp>
      <p:sp>
        <p:nvSpPr>
          <p:cNvPr id="53" name="Shape 51"/>
          <p:cNvSpPr/>
          <p:nvPr/>
        </p:nvSpPr>
        <p:spPr>
          <a:xfrm>
            <a:off x="4457700" y="3065526"/>
            <a:ext cx="2125980" cy="651510"/>
          </a:xfrm>
          <a:prstGeom prst="rect">
            <a:avLst/>
          </a:prstGeom>
          <a:solidFill>
            <a:srgbClr val="EBF2F7"/>
          </a:solidFill>
          <a:ln w="635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54" name="Text 52"/>
          <p:cNvSpPr/>
          <p:nvPr/>
        </p:nvSpPr>
        <p:spPr>
          <a:xfrm>
            <a:off x="4512564" y="3065526"/>
            <a:ext cx="205740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estacional + paquetes entrada + referidos</a:t>
            </a:r>
            <a:endParaRPr lang="en-US" sz="675" dirty="0"/>
          </a:p>
        </p:txBody>
      </p:sp>
      <p:sp>
        <p:nvSpPr>
          <p:cNvPr id="55" name="Shape 53"/>
          <p:cNvSpPr/>
          <p:nvPr/>
        </p:nvSpPr>
        <p:spPr>
          <a:xfrm>
            <a:off x="6583680" y="3065526"/>
            <a:ext cx="2125980" cy="651510"/>
          </a:xfrm>
          <a:prstGeom prst="rect">
            <a:avLst/>
          </a:prstGeom>
          <a:solidFill>
            <a:srgbClr val="EBF2F7"/>
          </a:solidFill>
          <a:ln w="635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56" name="Text 54"/>
          <p:cNvSpPr/>
          <p:nvPr/>
        </p:nvSpPr>
        <p:spPr>
          <a:xfrm>
            <a:off x="6638544" y="3065526"/>
            <a:ext cx="205740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mínima 1 movimiento/trimestre</a:t>
            </a:r>
            <a:endParaRPr lang="en-US" sz="675" dirty="0"/>
          </a:p>
        </p:txBody>
      </p:sp>
      <p:sp>
        <p:nvSpPr>
          <p:cNvPr id="57" name="Shape 55"/>
          <p:cNvSpPr/>
          <p:nvPr/>
        </p:nvSpPr>
        <p:spPr>
          <a:xfrm>
            <a:off x="274320" y="3751326"/>
            <a:ext cx="1508760" cy="651510"/>
          </a:xfrm>
          <a:prstGeom prst="rect">
            <a:avLst/>
          </a:prstGeom>
          <a:solidFill>
            <a:srgbClr val="7F8C8D">
              <a:alpha val="15000"/>
            </a:srgbClr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58" name="Shape 56"/>
          <p:cNvSpPr/>
          <p:nvPr/>
        </p:nvSpPr>
        <p:spPr>
          <a:xfrm>
            <a:off x="274320" y="3751326"/>
            <a:ext cx="41148" cy="65151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59" name="Text 57"/>
          <p:cNvSpPr/>
          <p:nvPr/>
        </p:nvSpPr>
        <p:spPr>
          <a:xfrm>
            <a:off x="356616" y="3751326"/>
            <a:ext cx="140589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C Inactivo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1783080" y="3751326"/>
            <a:ext cx="754380" cy="65151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61" name="Text 59"/>
          <p:cNvSpPr/>
          <p:nvPr/>
        </p:nvSpPr>
        <p:spPr>
          <a:xfrm>
            <a:off x="1783080" y="3751326"/>
            <a:ext cx="7543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638" dirty="0"/>
          </a:p>
        </p:txBody>
      </p:sp>
      <p:sp>
        <p:nvSpPr>
          <p:cNvPr id="62" name="Shape 60"/>
          <p:cNvSpPr/>
          <p:nvPr/>
        </p:nvSpPr>
        <p:spPr>
          <a:xfrm>
            <a:off x="2537460" y="3751326"/>
            <a:ext cx="1920240" cy="65151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63" name="Text 61"/>
          <p:cNvSpPr/>
          <p:nvPr/>
        </p:nvSpPr>
        <p:spPr>
          <a:xfrm>
            <a:off x="2592324" y="3751326"/>
            <a:ext cx="185166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selectiva o archivo</a:t>
            </a:r>
            <a:endParaRPr lang="en-US" sz="675" dirty="0"/>
          </a:p>
        </p:txBody>
      </p:sp>
      <p:sp>
        <p:nvSpPr>
          <p:cNvPr id="64" name="Shape 62"/>
          <p:cNvSpPr/>
          <p:nvPr/>
        </p:nvSpPr>
        <p:spPr>
          <a:xfrm>
            <a:off x="4457700" y="3751326"/>
            <a:ext cx="2125980" cy="65151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65" name="Text 63"/>
          <p:cNvSpPr/>
          <p:nvPr/>
        </p:nvSpPr>
        <p:spPr>
          <a:xfrm>
            <a:off x="4512564" y="3751326"/>
            <a:ext cx="205740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reingreso + auditoría de causa + contacto semestral</a:t>
            </a:r>
            <a:endParaRPr lang="en-US" sz="675" dirty="0"/>
          </a:p>
        </p:txBody>
      </p:sp>
      <p:sp>
        <p:nvSpPr>
          <p:cNvPr id="66" name="Shape 64"/>
          <p:cNvSpPr/>
          <p:nvPr/>
        </p:nvSpPr>
        <p:spPr>
          <a:xfrm>
            <a:off x="6583680" y="3751326"/>
            <a:ext cx="2125980" cy="65151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s-EC" sz="1350"/>
          </a:p>
        </p:txBody>
      </p:sp>
      <p:sp>
        <p:nvSpPr>
          <p:cNvPr id="67" name="Text 65"/>
          <p:cNvSpPr/>
          <p:nvPr/>
        </p:nvSpPr>
        <p:spPr>
          <a:xfrm>
            <a:off x="6638544" y="3751326"/>
            <a:ext cx="205740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Reactivar ≥15% en 6 meses</a:t>
            </a:r>
            <a:endParaRPr lang="en-US" sz="6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97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01168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1. </a:t>
            </a:r>
            <a:r>
              <a:rPr lang="en-US" sz="1300" dirty="0">
                <a:solidFill>
                  <a:srgbClr val="E0F2FE"/>
                </a:solidFill>
              </a:rPr>
              <a:t>El análisis </a:t>
            </a:r>
            <a:r>
              <a:rPr lang="en-US" sz="1300" dirty="0" err="1">
                <a:solidFill>
                  <a:srgbClr val="E0F2FE"/>
                </a:solidFill>
              </a:rPr>
              <a:t>identificó</a:t>
            </a:r>
            <a:r>
              <a:rPr lang="en-US" sz="1300" dirty="0">
                <a:solidFill>
                  <a:srgbClr val="E0F2FE"/>
                </a:solidFill>
              </a:rPr>
              <a:t> 5 segmentos diferenciados con comportamientos operativos distintos.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r>
              <a:rPr lang="en-US" sz="1300" b="1" dirty="0">
                <a:solidFill>
                  <a:srgbClr val="02C39A"/>
                </a:solidFill>
              </a:rPr>
              <a:t>. </a:t>
            </a:r>
            <a:r>
              <a:rPr lang="es-EC" sz="1300" dirty="0">
                <a:solidFill>
                  <a:srgbClr val="E0F2FE"/>
                </a:solidFill>
              </a:rPr>
              <a:t>Los segmentos C Activo Frecuente y C Activo Ocasional constituyen la base de crecimiento futuro: con estrategias de </a:t>
            </a:r>
            <a:r>
              <a:rPr lang="es-EC" sz="1300" dirty="0" err="1">
                <a:solidFill>
                  <a:srgbClr val="E0F2FE"/>
                </a:solidFill>
              </a:rPr>
              <a:t>upgrade</a:t>
            </a:r>
            <a:r>
              <a:rPr lang="es-EC" sz="1300" dirty="0">
                <a:solidFill>
                  <a:srgbClr val="E0F2FE"/>
                </a:solidFill>
              </a:rPr>
              <a:t> y activación, pueden migrar a segmentos superiores.</a:t>
            </a:r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3.</a:t>
            </a:r>
            <a:r>
              <a:rPr lang="en-US" sz="1300" b="1" dirty="0">
                <a:solidFill>
                  <a:srgbClr val="02C39A"/>
                </a:solidFill>
              </a:rPr>
              <a:t> </a:t>
            </a:r>
            <a:r>
              <a:rPr lang="es-EC" sz="1300" dirty="0">
                <a:solidFill>
                  <a:srgbClr val="E0F2FE"/>
                </a:solidFill>
              </a:rPr>
              <a:t>Los segmentos Crítico Activo y Recuperación AB representan la mayor palanca de ingresos a corto plazo y requieren recursos comerciales prioritarios diferenciados.</a:t>
            </a:r>
          </a:p>
        </p:txBody>
      </p:sp>
      <p:sp>
        <p:nvSpPr>
          <p:cNvPr id="9" name="Text 7"/>
          <p:cNvSpPr/>
          <p:nvPr/>
        </p:nvSpPr>
        <p:spPr>
          <a:xfrm>
            <a:off x="365760" y="31546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4. </a:t>
            </a:r>
            <a:r>
              <a:rPr lang="es-EC" sz="1300" dirty="0">
                <a:solidFill>
                  <a:schemeClr val="bg1"/>
                </a:solidFill>
              </a:rPr>
              <a:t>El análisis de estacionalidad mensual permite anticipar picos de demanda por segmento, habilitando planificación de capacidad y campañas comerciales oportunas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7947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5. </a:t>
            </a:r>
            <a:r>
              <a:rPr lang="en-US" sz="1300" dirty="0">
                <a:solidFill>
                  <a:srgbClr val="E0F2FE"/>
                </a:solidFill>
              </a:rPr>
              <a:t>La segmentación permite diseñar estrategias diferenciadas aumentando eficiencia comercial.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8644" y="493366"/>
            <a:ext cx="6059479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850"/>
                </a:solidFill>
              </a:defRPr>
            </a:pPr>
            <a:r>
              <a:rPr dirty="0"/>
              <a:t>Los </a:t>
            </a:r>
            <a:r>
              <a:rPr dirty="0" err="1"/>
              <a:t>movimientos</a:t>
            </a:r>
            <a:r>
              <a:rPr dirty="0"/>
              <a:t> </a:t>
            </a:r>
            <a:r>
              <a:rPr dirty="0" err="1"/>
              <a:t>cuentan</a:t>
            </a:r>
            <a:r>
              <a:rPr dirty="0"/>
              <a:t> </a:t>
            </a:r>
            <a:r>
              <a:rPr dirty="0" err="1"/>
              <a:t>operaciones</a:t>
            </a:r>
            <a:r>
              <a:rPr dirty="0"/>
              <a:t>. </a:t>
            </a:r>
            <a:endParaRPr lang="es-419" dirty="0"/>
          </a:p>
          <a:p>
            <a:pPr>
              <a:defRPr sz="2800" b="1">
                <a:solidFill>
                  <a:srgbClr val="142850"/>
                </a:solidFill>
              </a:defRPr>
            </a:pPr>
            <a:r>
              <a:rPr dirty="0"/>
              <a:t>Los </a:t>
            </a:r>
            <a:r>
              <a:rPr dirty="0" err="1"/>
              <a:t>patrones</a:t>
            </a:r>
            <a:r>
              <a:rPr dirty="0"/>
              <a:t> </a:t>
            </a:r>
            <a:r>
              <a:rPr dirty="0" err="1"/>
              <a:t>cuentan</a:t>
            </a:r>
            <a:r>
              <a:rPr dirty="0"/>
              <a:t> </a:t>
            </a:r>
            <a:r>
              <a:rPr dirty="0" err="1"/>
              <a:t>historias</a:t>
            </a:r>
            <a:r>
              <a:rPr dirty="0"/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1589"/>
            <a:ext cx="63250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A5A5A"/>
                </a:solidFill>
              </a:defRPr>
            </a:pPr>
            <a:r>
              <a:rPr dirty="0"/>
              <a:t>Cierre </a:t>
            </a:r>
            <a:r>
              <a:rPr dirty="0" err="1"/>
              <a:t>ejecutivo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78644" y="1975961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Hoy </a:t>
            </a:r>
            <a:r>
              <a:rPr dirty="0" err="1"/>
              <a:t>Transestiba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no </a:t>
            </a:r>
            <a:r>
              <a:rPr dirty="0" err="1"/>
              <a:t>tendría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ver</a:t>
            </a:r>
            <a:r>
              <a:rPr dirty="0"/>
              <a:t> </a:t>
            </a:r>
            <a:r>
              <a:rPr dirty="0" err="1"/>
              <a:t>solamente</a:t>
            </a:r>
            <a:r>
              <a:rPr dirty="0"/>
              <a:t> </a:t>
            </a:r>
            <a:r>
              <a:rPr dirty="0" err="1"/>
              <a:t>movimientos</a:t>
            </a:r>
            <a:r>
              <a:rPr dirty="0"/>
              <a:t> </a:t>
            </a:r>
            <a:r>
              <a:rPr dirty="0" err="1"/>
              <a:t>logísticos</a:t>
            </a:r>
            <a:r>
              <a:rPr dirty="0"/>
              <a:t>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 err="1"/>
              <a:t>Ahora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comenzar</a:t>
            </a:r>
            <a:r>
              <a:rPr dirty="0"/>
              <a:t> a </a:t>
            </a:r>
            <a:r>
              <a:rPr dirty="0" err="1"/>
              <a:t>entender</a:t>
            </a:r>
            <a:r>
              <a:rPr dirty="0"/>
              <a:t> </a:t>
            </a:r>
            <a:r>
              <a:rPr dirty="0" err="1"/>
              <a:t>comportamientos</a:t>
            </a:r>
            <a:r>
              <a:rPr dirty="0"/>
              <a:t>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Y </a:t>
            </a:r>
            <a:r>
              <a:rPr dirty="0" err="1"/>
              <a:t>entender</a:t>
            </a:r>
            <a:r>
              <a:rPr dirty="0"/>
              <a:t> </a:t>
            </a:r>
            <a:r>
              <a:rPr dirty="0" err="1"/>
              <a:t>esos</a:t>
            </a:r>
            <a:r>
              <a:rPr dirty="0"/>
              <a:t> </a:t>
            </a:r>
            <a:r>
              <a:rPr dirty="0" err="1"/>
              <a:t>patrones</a:t>
            </a:r>
            <a:r>
              <a:rPr dirty="0"/>
              <a:t> es </a:t>
            </a:r>
            <a:r>
              <a:rPr dirty="0" err="1"/>
              <a:t>el</a:t>
            </a:r>
            <a:r>
              <a:rPr dirty="0"/>
              <a:t> primer paso para </a:t>
            </a:r>
            <a:r>
              <a:rPr dirty="0" err="1"/>
              <a:t>operar</a:t>
            </a:r>
            <a:r>
              <a:rPr dirty="0"/>
              <a:t> </a:t>
            </a:r>
            <a:r>
              <a:rPr dirty="0" err="1"/>
              <a:t>estratégicamente</a:t>
            </a:r>
            <a:r>
              <a:rPr dirty="0"/>
              <a:t>.</a:t>
            </a:r>
          </a:p>
        </p:txBody>
      </p:sp>
      <p:grpSp>
        <p:nvGrpSpPr>
          <p:cNvPr id="7" name="Group 19">
            <a:extLst>
              <a:ext uri="{FF2B5EF4-FFF2-40B4-BE49-F238E27FC236}">
                <a16:creationId xmlns:a16="http://schemas.microsoft.com/office/drawing/2014/main" id="{AD826D25-9B41-8EF0-6985-65F3BA03F249}"/>
              </a:ext>
            </a:extLst>
          </p:cNvPr>
          <p:cNvGrpSpPr/>
          <p:nvPr/>
        </p:nvGrpSpPr>
        <p:grpSpPr>
          <a:xfrm>
            <a:off x="-418391" y="3467367"/>
            <a:ext cx="836781" cy="836781"/>
            <a:chOff x="0" y="0"/>
            <a:chExt cx="812800" cy="812800"/>
          </a:xfrm>
        </p:grpSpPr>
        <p:sp>
          <p:nvSpPr>
            <p:cNvPr id="8" name="Freeform 20">
              <a:extLst>
                <a:ext uri="{FF2B5EF4-FFF2-40B4-BE49-F238E27FC236}">
                  <a16:creationId xmlns:a16="http://schemas.microsoft.com/office/drawing/2014/main" id="{5CD62AAA-466D-0AD7-3783-6E783D8BA4C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C" sz="900"/>
            </a:p>
          </p:txBody>
        </p:sp>
        <p:sp>
          <p:nvSpPr>
            <p:cNvPr id="9" name="TextBox 21">
              <a:extLst>
                <a:ext uri="{FF2B5EF4-FFF2-40B4-BE49-F238E27FC236}">
                  <a16:creationId xmlns:a16="http://schemas.microsoft.com/office/drawing/2014/main" id="{A4FCD5B2-5438-75B5-4151-7674D865769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9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942</Words>
  <Application>Microsoft Office PowerPoint</Application>
  <PresentationFormat>Presentación en pantalla (16:9)</PresentationFormat>
  <Paragraphs>157</Paragraphs>
  <Slides>15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Open Sauce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Clustering - Transestiba</dc:title>
  <dc:subject>PptxGenJS Presentation</dc:subject>
  <dc:creator>PptxGenJS</dc:creator>
  <cp:lastModifiedBy>Jessica Bosquez Velasquez</cp:lastModifiedBy>
  <cp:revision>9</cp:revision>
  <dcterms:created xsi:type="dcterms:W3CDTF">2026-05-08T02:39:24Z</dcterms:created>
  <dcterms:modified xsi:type="dcterms:W3CDTF">2026-05-09T15:58:43Z</dcterms:modified>
</cp:coreProperties>
</file>